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72" r:id="rId9"/>
    <p:sldId id="262" r:id="rId10"/>
    <p:sldId id="263" r:id="rId11"/>
    <p:sldId id="264" r:id="rId12"/>
    <p:sldId id="266" r:id="rId13"/>
    <p:sldId id="267" r:id="rId14"/>
    <p:sldId id="270" r:id="rId15"/>
    <p:sldId id="268" r:id="rId16"/>
    <p:sldId id="269" r:id="rId17"/>
    <p:sldId id="275" r:id="rId24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8" autoAdjust="0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66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4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50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1280160" cy="1280160"/>
          </a:xfrm>
          <a:prstGeom prst="rect">
            <a:avLst/>
          </a:prstGeom>
        </p:spPr>
      </p:pic>
      <p:sp>
        <p:nvSpPr>
          <p:cNvPr id="3" name="Text 3"/>
          <p:cNvSpPr/>
          <p:nvPr/>
        </p:nvSpPr>
        <p:spPr>
          <a:xfrm>
            <a:off x="457200" y="2029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</a:t>
            </a:r>
          </a:p>
        </p:txBody>
      </p:sp>
      <p:sp>
        <p:nvSpPr>
          <p:cNvPr id="4" name="Text 4"/>
          <p:cNvSpPr/>
          <p:nvPr/>
        </p:nvSpPr>
        <p:spPr>
          <a:xfrm>
            <a:off x="457200" y="2505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MONITORING  ·  RUNTIME CONTROL</a:t>
            </a:r>
          </a:p>
        </p:txBody>
      </p:sp>
      <p:sp>
        <p:nvSpPr>
          <p:cNvPr id="5" name="Text 5"/>
          <p:cNvSpPr/>
          <p:nvPr/>
        </p:nvSpPr>
        <p:spPr>
          <a:xfrm>
            <a:off x="45720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measure from a local inference runtime — and how the host stays awake.</a:t>
            </a:r>
          </a:p>
        </p:txBody>
      </p:sp>
      <p:sp>
        <p:nvSpPr>
          <p:cNvPr id="6" name="Shape 6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7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 ·  WORKING DOCUMENT</a:t>
            </a:r>
          </a:p>
        </p:txBody>
      </p:sp>
      <p:sp>
        <p:nvSpPr>
          <p:cNvPr id="8" name="Text 8"/>
          <p:cNvSpPr/>
          <p:nvPr/>
        </p:nvSpPr>
        <p:spPr>
          <a:xfrm>
            <a:off x="457200" y="4041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retrieval  ·  Keep-alive  ·  GPU offload</a:t>
            </a:r>
          </a:p>
        </p:txBody>
      </p:sp>
      <p:sp>
        <p:nvSpPr>
          <p:cNvPr id="9" name="Text 9"/>
          <p:cNvSpPr/>
          <p:nvPr/>
        </p:nvSpPr>
        <p:spPr>
          <a:xfrm>
            <a:off x="457200" y="4370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·  11 AUGUST 2026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11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DOCUMENT COVERS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sections and the minutes of the review that closed them.</a:t>
            </a:r>
          </a:p>
        </p:txBody>
      </p:sp>
      <p:sp>
        <p:nvSpPr>
          <p:cNvPr id="5" name="Shape 5"/>
          <p:cNvSpPr/>
          <p:nvPr/>
        </p:nvSpPr>
        <p:spPr>
          <a:xfrm>
            <a:off x="365760" y="960120"/>
            <a:ext cx="8412480" cy="804672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6"/>
          <p:cNvSpPr/>
          <p:nvPr/>
        </p:nvSpPr>
        <p:spPr>
          <a:xfrm>
            <a:off x="365760" y="960120"/>
            <a:ext cx="118872" cy="8046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7"/>
          <p:cNvSpPr/>
          <p:nvPr/>
        </p:nvSpPr>
        <p:spPr>
          <a:xfrm>
            <a:off x="548640" y="1225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</a:p>
        </p:txBody>
      </p:sp>
      <p:sp>
        <p:nvSpPr>
          <p:cNvPr id="8" name="Shape 8"/>
          <p:cNvSpPr/>
          <p:nvPr/>
        </p:nvSpPr>
        <p:spPr>
          <a:xfrm>
            <a:off x="1207008" y="1051560"/>
            <a:ext cx="0" cy="621792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9"/>
          <p:cNvSpPr/>
          <p:nvPr/>
        </p:nvSpPr>
        <p:spPr>
          <a:xfrm>
            <a:off x="1353312" y="11064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b="1" kern="0" spc="2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RETRIEVAL</a:t>
            </a:r>
          </a:p>
        </p:txBody>
      </p:sp>
      <p:sp>
        <p:nvSpPr>
          <p:cNvPr id="10" name="Text 10"/>
          <p:cNvSpPr/>
          <p:nvPr/>
        </p:nvSpPr>
        <p:spPr>
          <a:xfrm>
            <a:off x="1353312" y="1325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9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actually measure?</a:t>
            </a:r>
          </a:p>
        </p:txBody>
      </p:sp>
      <p:sp>
        <p:nvSpPr>
          <p:cNvPr id="11" name="Shape 11"/>
          <p:cNvSpPr/>
          <p:nvPr/>
        </p:nvSpPr>
        <p:spPr>
          <a:xfrm>
            <a:off x="4498848" y="1051560"/>
            <a:ext cx="0" cy="621792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2"/>
          <p:cNvSpPr/>
          <p:nvPr/>
        </p:nvSpPr>
        <p:spPr>
          <a:xfrm>
            <a:off x="4645152" y="1124712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 tracks  ·  vLLM vs Ollama  ·  Other runtimes</a:t>
            </a:r>
          </a:p>
        </p:txBody>
      </p:sp>
      <p:sp>
        <p:nvSpPr>
          <p:cNvPr id="13" name="Text 13"/>
          <p:cNvSpPr/>
          <p:nvPr/>
        </p:nvSpPr>
        <p:spPr>
          <a:xfrm>
            <a:off x="8119872" y="12618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08</a:t>
            </a:r>
          </a:p>
        </p:txBody>
      </p:sp>
      <p:sp>
        <p:nvSpPr>
          <p:cNvPr id="14" name="Shape 14"/>
          <p:cNvSpPr/>
          <p:nvPr/>
        </p:nvSpPr>
        <p:spPr>
          <a:xfrm>
            <a:off x="365760" y="1865376"/>
            <a:ext cx="8412480" cy="804672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5"/>
          <p:cNvSpPr/>
          <p:nvPr/>
        </p:nvSpPr>
        <p:spPr>
          <a:xfrm>
            <a:off x="365760" y="1865376"/>
            <a:ext cx="118872" cy="804672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6"/>
          <p:cNvSpPr/>
          <p:nvPr/>
        </p:nvSpPr>
        <p:spPr>
          <a:xfrm>
            <a:off x="548640" y="2130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</a:p>
        </p:txBody>
      </p:sp>
      <p:sp>
        <p:nvSpPr>
          <p:cNvPr id="17" name="Shape 17"/>
          <p:cNvSpPr/>
          <p:nvPr/>
        </p:nvSpPr>
        <p:spPr>
          <a:xfrm>
            <a:off x="1207008" y="1956816"/>
            <a:ext cx="0" cy="621792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8"/>
          <p:cNvSpPr/>
          <p:nvPr/>
        </p:nvSpPr>
        <p:spPr>
          <a:xfrm>
            <a:off x="1353312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b="1" kern="0" spc="2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</a:t>
            </a:r>
          </a:p>
        </p:txBody>
      </p:sp>
      <p:sp>
        <p:nvSpPr>
          <p:cNvPr id="19" name="Text 19"/>
          <p:cNvSpPr/>
          <p:nvPr/>
        </p:nvSpPr>
        <p:spPr>
          <a:xfrm>
            <a:off x="1353312" y="22311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9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stop Windows going to sleep?</a:t>
            </a:r>
          </a:p>
        </p:txBody>
      </p:sp>
      <p:sp>
        <p:nvSpPr>
          <p:cNvPr id="20" name="Shape 20"/>
          <p:cNvSpPr/>
          <p:nvPr/>
        </p:nvSpPr>
        <p:spPr>
          <a:xfrm>
            <a:off x="4498848" y="1956816"/>
            <a:ext cx="0" cy="621792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21"/>
          <p:cNvSpPr/>
          <p:nvPr/>
        </p:nvSpPr>
        <p:spPr>
          <a:xfrm>
            <a:off x="4645152" y="2029968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 ·  The call sequence  ·  Thread state and the lid  ·  Limits</a:t>
            </a:r>
          </a:p>
        </p:txBody>
      </p:sp>
      <p:sp>
        <p:nvSpPr>
          <p:cNvPr id="22" name="Text 22"/>
          <p:cNvSpPr/>
          <p:nvPr/>
        </p:nvSpPr>
        <p:spPr>
          <a:xfrm>
            <a:off x="8119872" y="216712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– 14</a:t>
            </a:r>
          </a:p>
        </p:txBody>
      </p:sp>
      <p:sp>
        <p:nvSpPr>
          <p:cNvPr id="23" name="Shape 23"/>
          <p:cNvSpPr/>
          <p:nvPr/>
        </p:nvSpPr>
        <p:spPr>
          <a:xfrm>
            <a:off x="365760" y="2770632"/>
            <a:ext cx="8412480" cy="804672"/>
          </a:xfrm>
          <a:prstGeom prst="rect">
            <a:avLst/>
          </a:prstGeom>
          <a:solidFill>
            <a:srgbClr val="0A0A0A"/>
          </a:solidFill>
          <a:ln w="1905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4"/>
          <p:cNvSpPr/>
          <p:nvPr/>
        </p:nvSpPr>
        <p:spPr>
          <a:xfrm>
            <a:off x="365760" y="2770632"/>
            <a:ext cx="118872" cy="804672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5"/>
          <p:cNvSpPr/>
          <p:nvPr/>
        </p:nvSpPr>
        <p:spPr>
          <a:xfrm>
            <a:off x="548640" y="3035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</a:p>
        </p:txBody>
      </p:sp>
      <p:sp>
        <p:nvSpPr>
          <p:cNvPr id="26" name="Shape 26"/>
          <p:cNvSpPr/>
          <p:nvPr/>
        </p:nvSpPr>
        <p:spPr>
          <a:xfrm>
            <a:off x="1207008" y="2862072"/>
            <a:ext cx="0" cy="621792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7"/>
          <p:cNvSpPr/>
          <p:nvPr/>
        </p:nvSpPr>
        <p:spPr>
          <a:xfrm>
            <a:off x="1353312" y="29169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OFFLOAD</a:t>
            </a:r>
          </a:p>
        </p:txBody>
      </p:sp>
      <p:sp>
        <p:nvSpPr>
          <p:cNvPr id="28" name="Text 28"/>
          <p:cNvSpPr/>
          <p:nvPr/>
        </p:nvSpPr>
        <p:spPr>
          <a:xfrm>
            <a:off x="1353312" y="3136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9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Pending.</a:t>
            </a:r>
          </a:p>
        </p:txBody>
      </p:sp>
      <p:sp>
        <p:nvSpPr>
          <p:cNvPr id="29" name="Shape 29"/>
          <p:cNvSpPr/>
          <p:nvPr/>
        </p:nvSpPr>
        <p:spPr>
          <a:xfrm>
            <a:off x="4498848" y="2862072"/>
            <a:ext cx="0" cy="621792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30"/>
          <p:cNvSpPr/>
          <p:nvPr/>
        </p:nvSpPr>
        <p:spPr>
          <a:xfrm>
            <a:off x="4645152" y="2935224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only — no answers in this revision</a:t>
            </a:r>
          </a:p>
        </p:txBody>
      </p:sp>
      <p:sp>
        <p:nvSpPr>
          <p:cNvPr id="31" name="Text 31"/>
          <p:cNvSpPr/>
          <p:nvPr/>
        </p:nvSpPr>
        <p:spPr>
          <a:xfrm>
            <a:off x="8119872" y="30723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16</a:t>
            </a:r>
          </a:p>
        </p:txBody>
      </p:sp>
      <p:sp>
        <p:nvSpPr>
          <p:cNvPr id="54" name="Shape 5"/>
          <p:cNvSpPr/>
          <p:nvPr/>
        </p:nvSpPr>
        <p:spPr>
          <a:xfrm>
            <a:off x="365760" y="3675888"/>
            <a:ext cx="8412480" cy="804672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Shape 6"/>
          <p:cNvSpPr/>
          <p:nvPr/>
        </p:nvSpPr>
        <p:spPr>
          <a:xfrm>
            <a:off x="365760" y="3675888"/>
            <a:ext cx="118872" cy="804672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6" name="Text 7"/>
          <p:cNvSpPr/>
          <p:nvPr/>
        </p:nvSpPr>
        <p:spPr>
          <a:xfrm>
            <a:off x="548640" y="39410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</a:p>
        </p:txBody>
      </p:sp>
      <p:sp>
        <p:nvSpPr>
          <p:cNvPr id="57" name="Shape 8"/>
          <p:cNvSpPr/>
          <p:nvPr/>
        </p:nvSpPr>
        <p:spPr>
          <a:xfrm>
            <a:off x="1207008" y="3767328"/>
            <a:ext cx="0" cy="621792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Text 9"/>
          <p:cNvSpPr/>
          <p:nvPr/>
        </p:nvSpPr>
        <p:spPr>
          <a:xfrm>
            <a:off x="1353312" y="3822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" b="1" kern="0" spc="2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</a:t>
            </a:r>
          </a:p>
        </p:txBody>
      </p:sp>
      <p:sp>
        <p:nvSpPr>
          <p:cNvPr id="59" name="Text 10"/>
          <p:cNvSpPr/>
          <p:nvPr/>
        </p:nvSpPr>
        <p:spPr>
          <a:xfrm>
            <a:off x="1353312" y="4041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9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review on 12 August decide?</a:t>
            </a:r>
          </a:p>
        </p:txBody>
      </p:sp>
      <p:sp>
        <p:nvSpPr>
          <p:cNvPr id="60" name="Shape 11"/>
          <p:cNvSpPr/>
          <p:nvPr/>
        </p:nvSpPr>
        <p:spPr>
          <a:xfrm>
            <a:off x="4498848" y="3767328"/>
            <a:ext cx="0" cy="621792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Text 12"/>
          <p:cNvSpPr/>
          <p:nvPr/>
        </p:nvSpPr>
        <p:spPr>
          <a:xfrm>
            <a:off x="4645152" y="3840480"/>
            <a:ext cx="3364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4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·  Keep-alive  ·  GPU offload  —  actions taken away</a:t>
            </a:r>
          </a:p>
        </p:txBody>
      </p:sp>
      <p:sp>
        <p:nvSpPr>
          <p:cNvPr id="62" name="Text 13"/>
          <p:cNvSpPr/>
          <p:nvPr/>
        </p:nvSpPr>
        <p:spPr>
          <a:xfrm>
            <a:off x="8119872" y="39776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– 18</a:t>
            </a:r>
          </a:p>
        </p:txBody>
      </p:sp>
      <p:sp>
        <p:nvSpPr>
          <p:cNvPr id="50" name="Text 50"/>
          <p:cNvSpPr/>
          <p:nvPr/>
        </p:nvSpPr>
        <p:spPr>
          <a:xfrm>
            <a:off x="365760" y="45902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sections are answerable today. </a:t>
            </a:r>
            <a:r>
              <a:rPr lang="en-US" sz="8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retrieval and keep-alive are settled questions with named APIs behind them. GPU offload carries no content yet.</a:t>
            </a:r>
          </a:p>
        </p:txBody>
      </p:sp>
      <p:sp>
        <p:nvSpPr>
          <p:cNvPr id="51" name="Shape 5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Text 52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53" name="Text 53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 THIS DOCUMENT COVERS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457200" y="2029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RETRIEVAL</a:t>
            </a:r>
          </a:p>
        </p:txBody>
      </p:sp>
      <p:sp>
        <p:nvSpPr>
          <p:cNvPr id="4" name="Text 4"/>
          <p:cNvSpPr/>
          <p:nvPr/>
        </p:nvSpPr>
        <p:spPr>
          <a:xfrm>
            <a:off x="457200" y="2505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</a:p>
        </p:txBody>
      </p:sp>
      <p:sp>
        <p:nvSpPr>
          <p:cNvPr id="5" name="Text 5"/>
          <p:cNvSpPr/>
          <p:nvPr/>
        </p:nvSpPr>
        <p:spPr>
          <a:xfrm>
            <a:off x="45720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monitor reads today, how the two supported runtimes differ, and what else we could add.</a:t>
            </a:r>
          </a:p>
        </p:txBody>
      </p:sp>
      <p:sp>
        <p:nvSpPr>
          <p:cNvPr id="6" name="Shape 6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7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+ OLLAMA TODAY</a:t>
            </a:r>
          </a:p>
        </p:txBody>
      </p:sp>
      <p:sp>
        <p:nvSpPr>
          <p:cNvPr id="8" name="Text 8"/>
          <p:cNvSpPr/>
          <p:nvPr/>
        </p:nvSpPr>
        <p:spPr>
          <a:xfrm>
            <a:off x="457200" y="4041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provider interface  ·  nvidia-smi for everything the runtime will not say</a:t>
            </a:r>
          </a:p>
        </p:txBody>
      </p:sp>
      <p:sp>
        <p:nvSpPr>
          <p:cNvPr id="9" name="Text 9"/>
          <p:cNvSpPr/>
          <p:nvPr/>
        </p:nvSpPr>
        <p:spPr>
          <a:xfrm>
            <a:off x="457200" y="4370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OF III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11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 ACTUALLY TRACKS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the monitor puts on screen, and what it means if you are not reading the source.</a:t>
            </a:r>
          </a:p>
        </p:txBody>
      </p:sp>
      <p:sp>
        <p:nvSpPr>
          <p:cNvPr id="5" name="Shape 5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6"/>
          <p:cNvSpPr/>
          <p:nvPr/>
        </p:nvSpPr>
        <p:spPr>
          <a:xfrm>
            <a:off x="365760" y="1024128"/>
            <a:ext cx="118872" cy="50292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7"/>
          <p:cNvSpPr/>
          <p:nvPr/>
        </p:nvSpPr>
        <p:spPr>
          <a:xfrm>
            <a:off x="621792" y="1078992"/>
            <a:ext cx="868680" cy="18288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8"/>
          <p:cNvSpPr/>
          <p:nvPr/>
        </p:nvSpPr>
        <p:spPr>
          <a:xfrm>
            <a:off x="621792" y="1078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</a:p>
        </p:txBody>
      </p:sp>
      <p:sp>
        <p:nvSpPr>
          <p:cNvPr id="9" name="Text 9"/>
          <p:cNvSpPr/>
          <p:nvPr/>
        </p:nvSpPr>
        <p:spPr>
          <a:xfrm>
            <a:off x="1627632" y="10607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busy, memory bandwidth busy, temperature, power draw</a:t>
            </a:r>
          </a:p>
        </p:txBody>
      </p:sp>
      <p:sp>
        <p:nvSpPr>
          <p:cNvPr id="10" name="Text 10"/>
          <p:cNvSpPr/>
          <p:nvPr/>
        </p:nvSpPr>
        <p:spPr>
          <a:xfrm>
            <a:off x="1627632" y="126187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nvidia-smi. How hard the chip is working, how hard its memory is working, how hot it is, and how much electricity it is pulling.</a:t>
            </a:r>
          </a:p>
        </p:txBody>
      </p:sp>
      <p:sp>
        <p:nvSpPr>
          <p:cNvPr id="11" name="Shape 11"/>
          <p:cNvSpPr/>
          <p:nvPr/>
        </p:nvSpPr>
        <p:spPr>
          <a:xfrm>
            <a:off x="365760" y="1613916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2"/>
          <p:cNvSpPr/>
          <p:nvPr/>
        </p:nvSpPr>
        <p:spPr>
          <a:xfrm>
            <a:off x="365760" y="1613916"/>
            <a:ext cx="118872" cy="50292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3"/>
          <p:cNvSpPr/>
          <p:nvPr/>
        </p:nvSpPr>
        <p:spPr>
          <a:xfrm>
            <a:off x="621792" y="1668780"/>
            <a:ext cx="868680" cy="18288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4"/>
          <p:cNvSpPr/>
          <p:nvPr/>
        </p:nvSpPr>
        <p:spPr>
          <a:xfrm>
            <a:off x="621792" y="16687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</a:t>
            </a:r>
          </a:p>
        </p:txBody>
      </p:sp>
      <p:sp>
        <p:nvSpPr>
          <p:cNvPr id="15" name="Text 15"/>
          <p:cNvSpPr/>
          <p:nvPr/>
        </p:nvSpPr>
        <p:spPr>
          <a:xfrm>
            <a:off x="1627632" y="16504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in use against VRAM fitted</a:t>
            </a:r>
          </a:p>
        </p:txBody>
      </p:sp>
      <p:sp>
        <p:nvSpPr>
          <p:cNvPr id="16" name="Text 16"/>
          <p:cNvSpPr/>
          <p:nvPr/>
        </p:nvSpPr>
        <p:spPr>
          <a:xfrm>
            <a:off x="1627632" y="18516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nvidia-smi, and it counts the whole card — the model, the conversation cache and anything else resident. When it fills, everything slows down.</a:t>
            </a:r>
          </a:p>
        </p:txBody>
      </p:sp>
      <p:sp>
        <p:nvSpPr>
          <p:cNvPr id="17" name="Shape 17"/>
          <p:cNvSpPr/>
          <p:nvPr/>
        </p:nvSpPr>
        <p:spPr>
          <a:xfrm>
            <a:off x="365760" y="2203704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8"/>
          <p:cNvSpPr/>
          <p:nvPr/>
        </p:nvSpPr>
        <p:spPr>
          <a:xfrm>
            <a:off x="365760" y="2203704"/>
            <a:ext cx="118872" cy="50292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9"/>
          <p:cNvSpPr/>
          <p:nvPr/>
        </p:nvSpPr>
        <p:spPr>
          <a:xfrm>
            <a:off x="621792" y="2258568"/>
            <a:ext cx="868680" cy="18288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20"/>
          <p:cNvSpPr/>
          <p:nvPr/>
        </p:nvSpPr>
        <p:spPr>
          <a:xfrm>
            <a:off x="621792" y="22585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</a:p>
        </p:txBody>
      </p:sp>
      <p:sp>
        <p:nvSpPr>
          <p:cNvPr id="21" name="Text 21"/>
          <p:cNvSpPr/>
          <p:nvPr/>
        </p:nvSpPr>
        <p:spPr>
          <a:xfrm>
            <a:off x="1627632" y="22402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size, the part in VRAM, and the GPU/CPU split</a:t>
            </a:r>
          </a:p>
        </p:txBody>
      </p:sp>
      <p:sp>
        <p:nvSpPr>
          <p:cNvPr id="22" name="Text 22"/>
          <p:cNvSpPr/>
          <p:nvPr/>
        </p:nvSpPr>
        <p:spPr>
          <a:xfrm>
            <a:off x="1627632" y="24414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does not fit is quietly half-run on the CPU. We report that split as a percentage, with the parameter count, the quantisation and the context length.</a:t>
            </a:r>
          </a:p>
        </p:txBody>
      </p:sp>
      <p:sp>
        <p:nvSpPr>
          <p:cNvPr id="23" name="Shape 23"/>
          <p:cNvSpPr/>
          <p:nvPr/>
        </p:nvSpPr>
        <p:spPr>
          <a:xfrm>
            <a:off x="365760" y="2793492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4"/>
          <p:cNvSpPr/>
          <p:nvPr/>
        </p:nvSpPr>
        <p:spPr>
          <a:xfrm>
            <a:off x="365760" y="2793492"/>
            <a:ext cx="118872" cy="50292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5"/>
          <p:cNvSpPr/>
          <p:nvPr/>
        </p:nvSpPr>
        <p:spPr>
          <a:xfrm>
            <a:off x="621792" y="2848356"/>
            <a:ext cx="868680" cy="18288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6"/>
          <p:cNvSpPr/>
          <p:nvPr/>
        </p:nvSpPr>
        <p:spPr>
          <a:xfrm>
            <a:off x="621792" y="28483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</a:p>
        </p:txBody>
      </p:sp>
      <p:sp>
        <p:nvSpPr>
          <p:cNvPr id="27" name="Text 27"/>
          <p:cNvSpPr/>
          <p:nvPr/>
        </p:nvSpPr>
        <p:spPr>
          <a:xfrm>
            <a:off x="1627632" y="28300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running, requests waiting, slots busy</a:t>
            </a:r>
          </a:p>
        </p:txBody>
      </p:sp>
      <p:sp>
        <p:nvSpPr>
          <p:cNvPr id="28" name="Text 28"/>
          <p:cNvSpPr/>
          <p:nvPr/>
        </p:nvSpPr>
        <p:spPr>
          <a:xfrm>
            <a:off x="1627632" y="303123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work the server has in hand right now, and how much is queued behind it. Waiting work means the machine is saturated, not broken.</a:t>
            </a:r>
          </a:p>
        </p:txBody>
      </p:sp>
      <p:sp>
        <p:nvSpPr>
          <p:cNvPr id="29" name="Shape 29"/>
          <p:cNvSpPr/>
          <p:nvPr/>
        </p:nvSpPr>
        <p:spPr>
          <a:xfrm>
            <a:off x="365760" y="3383280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30"/>
          <p:cNvSpPr/>
          <p:nvPr/>
        </p:nvSpPr>
        <p:spPr>
          <a:xfrm>
            <a:off x="365760" y="3383280"/>
            <a:ext cx="118872" cy="50292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31"/>
          <p:cNvSpPr/>
          <p:nvPr/>
        </p:nvSpPr>
        <p:spPr>
          <a:xfrm>
            <a:off x="621792" y="3438144"/>
            <a:ext cx="868680" cy="18288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2"/>
          <p:cNvSpPr/>
          <p:nvPr/>
        </p:nvSpPr>
        <p:spPr>
          <a:xfrm>
            <a:off x="621792" y="343814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</a:p>
        </p:txBody>
      </p:sp>
      <p:sp>
        <p:nvSpPr>
          <p:cNvPr id="33" name="Text 33"/>
          <p:cNvSpPr/>
          <p:nvPr/>
        </p:nvSpPr>
        <p:spPr>
          <a:xfrm>
            <a:off x="1627632" y="34198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 occupancy, prompt reuse, prompts held in RAM</a:t>
            </a:r>
          </a:p>
        </p:txBody>
      </p:sp>
      <p:sp>
        <p:nvSpPr>
          <p:cNvPr id="34" name="Text 34"/>
          <p:cNvSpPr/>
          <p:nvPr/>
        </p:nvSpPr>
        <p:spPr>
          <a:xfrm>
            <a:off x="1627632" y="36210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KV cache is the live conversation the model keeps in VRAM. Reuse is how much of the last prompt it recognised and skipped — speed for free.</a:t>
            </a:r>
          </a:p>
        </p:txBody>
      </p:sp>
      <p:sp>
        <p:nvSpPr>
          <p:cNvPr id="35" name="Shape 35"/>
          <p:cNvSpPr/>
          <p:nvPr/>
        </p:nvSpPr>
        <p:spPr>
          <a:xfrm>
            <a:off x="365760" y="3973068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Shape 36"/>
          <p:cNvSpPr/>
          <p:nvPr/>
        </p:nvSpPr>
        <p:spPr>
          <a:xfrm>
            <a:off x="365760" y="3973068"/>
            <a:ext cx="118872" cy="50292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Shape 37"/>
          <p:cNvSpPr/>
          <p:nvPr/>
        </p:nvSpPr>
        <p:spPr>
          <a:xfrm>
            <a:off x="621792" y="4027932"/>
            <a:ext cx="868680" cy="18288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8"/>
          <p:cNvSpPr/>
          <p:nvPr/>
        </p:nvSpPr>
        <p:spPr>
          <a:xfrm>
            <a:off x="621792" y="40279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</a:p>
        </p:txBody>
      </p:sp>
      <p:sp>
        <p:nvSpPr>
          <p:cNvPr id="39" name="Text 39"/>
          <p:cNvSpPr/>
          <p:nvPr/>
        </p:nvSpPr>
        <p:spPr>
          <a:xfrm>
            <a:off x="1627632" y="400964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and decode rates, with a trend line</a:t>
            </a:r>
          </a:p>
        </p:txBody>
      </p:sp>
      <p:sp>
        <p:nvSpPr>
          <p:cNvPr id="40" name="Text 40"/>
          <p:cNvSpPr/>
          <p:nvPr/>
        </p:nvSpPr>
        <p:spPr>
          <a:xfrm>
            <a:off x="1627632" y="421081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is how fast it reads your prompt; decode is how fast it writes the answer. Both in tokens per second, smoothed, with the last sixty samples drawn.</a:t>
            </a:r>
          </a:p>
        </p:txBody>
      </p:sp>
      <p:sp>
        <p:nvSpPr>
          <p:cNvPr id="41" name="Shape 4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42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43" name="Text 43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WHAT THE CODE TRACKS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AND OLLAMA ARE NOT SYMMETRIC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provider interface, two very different levels of visibility. Each tells us something the other cannot.</a:t>
            </a:r>
          </a:p>
        </p:txBody>
      </p:sp>
      <p:sp>
        <p:nvSpPr>
          <p:cNvPr id="5" name="Shape 5"/>
          <p:cNvSpPr/>
          <p:nvPr/>
        </p:nvSpPr>
        <p:spPr>
          <a:xfrm>
            <a:off x="365760" y="969264"/>
            <a:ext cx="4160520" cy="1133856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6"/>
          <p:cNvSpPr/>
          <p:nvPr/>
        </p:nvSpPr>
        <p:spPr>
          <a:xfrm>
            <a:off x="548640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— A METRICS ENDPOINT</a:t>
            </a:r>
          </a:p>
        </p:txBody>
      </p:sp>
      <p:sp>
        <p:nvSpPr>
          <p:cNvPr id="7" name="Text 7"/>
          <p:cNvSpPr/>
          <p:nvPr/>
        </p:nvSpPr>
        <p:spPr>
          <a:xfrm>
            <a:off x="548640" y="131673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text on /metrics, read every tick</a:t>
            </a:r>
          </a:p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Server-wide counters: tokens, queue, KV use</a:t>
            </a:r>
          </a:p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Prefix-cache hit rate arrives for free</a:t>
            </a:r>
          </a:p>
        </p:txBody>
      </p:sp>
      <p:sp>
        <p:nvSpPr>
          <p:cNvPr id="8" name="Shape 8"/>
          <p:cNvSpPr/>
          <p:nvPr/>
        </p:nvSpPr>
        <p:spPr>
          <a:xfrm>
            <a:off x="4617720" y="969264"/>
            <a:ext cx="4160520" cy="1133856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9"/>
          <p:cNvSpPr/>
          <p:nvPr/>
        </p:nvSpPr>
        <p:spPr>
          <a:xfrm>
            <a:off x="4800600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READ THE LOG</a:t>
            </a:r>
          </a:p>
        </p:txBody>
      </p:sp>
      <p:sp>
        <p:nvSpPr>
          <p:cNvPr id="10" name="Text 10"/>
          <p:cNvSpPr/>
          <p:nvPr/>
        </p:nvSpPr>
        <p:spPr>
          <a:xfrm>
            <a:off x="4800600" y="131673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metrics endpoint; /api/ps is the whole API</a:t>
            </a:r>
          </a:p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timings only reach whoever made the call</a:t>
            </a:r>
          </a:p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throughput is tailed out of server.log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22311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SAME FOUR SIGNALS ARRIVE BY DIFFERENT ROUTES</a:t>
            </a:r>
          </a:p>
        </p:txBody>
      </p:sp>
      <p:sp>
        <p:nvSpPr>
          <p:cNvPr id="12" name="Text 12"/>
          <p:cNvSpPr/>
          <p:nvPr/>
        </p:nvSpPr>
        <p:spPr>
          <a:xfrm>
            <a:off x="566928" y="2432304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</a:p>
        </p:txBody>
      </p:sp>
      <p:sp>
        <p:nvSpPr>
          <p:cNvPr id="13" name="Text 13"/>
          <p:cNvSpPr/>
          <p:nvPr/>
        </p:nvSpPr>
        <p:spPr>
          <a:xfrm>
            <a:off x="3401568" y="243230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vLLM</a:t>
            </a:r>
          </a:p>
        </p:txBody>
      </p:sp>
      <p:sp>
        <p:nvSpPr>
          <p:cNvPr id="14" name="Text 14"/>
          <p:cNvSpPr/>
          <p:nvPr/>
        </p:nvSpPr>
        <p:spPr>
          <a:xfrm>
            <a:off x="6382512" y="2432304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OLLAMA</a:t>
            </a:r>
          </a:p>
        </p:txBody>
      </p:sp>
      <p:sp>
        <p:nvSpPr>
          <p:cNvPr id="15" name="Shape 15"/>
          <p:cNvSpPr/>
          <p:nvPr/>
        </p:nvSpPr>
        <p:spPr>
          <a:xfrm>
            <a:off x="365760" y="2615184"/>
            <a:ext cx="841248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6"/>
          <p:cNvSpPr/>
          <p:nvPr/>
        </p:nvSpPr>
        <p:spPr>
          <a:xfrm>
            <a:off x="56692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3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</a:p>
        </p:txBody>
      </p:sp>
      <p:sp>
        <p:nvSpPr>
          <p:cNvPr id="17" name="Shape 17"/>
          <p:cNvSpPr/>
          <p:nvPr/>
        </p:nvSpPr>
        <p:spPr>
          <a:xfrm>
            <a:off x="3246120" y="2679192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8"/>
          <p:cNvSpPr/>
          <p:nvPr/>
        </p:nvSpPr>
        <p:spPr>
          <a:xfrm>
            <a:off x="3401568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over elapsed time, then smoothed</a:t>
            </a:r>
          </a:p>
        </p:txBody>
      </p:sp>
      <p:sp>
        <p:nvSpPr>
          <p:cNvPr id="19" name="Shape 19"/>
          <p:cNvSpPr/>
          <p:nvPr/>
        </p:nvSpPr>
        <p:spPr>
          <a:xfrm>
            <a:off x="6144768" y="2679192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20"/>
          <p:cNvSpPr/>
          <p:nvPr/>
        </p:nvSpPr>
        <p:spPr>
          <a:xfrm>
            <a:off x="6382512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the last finished request in the log</a:t>
            </a:r>
          </a:p>
        </p:txBody>
      </p:sp>
      <p:sp>
        <p:nvSpPr>
          <p:cNvPr id="21" name="Shape 21"/>
          <p:cNvSpPr/>
          <p:nvPr/>
        </p:nvSpPr>
        <p:spPr>
          <a:xfrm>
            <a:off x="365760" y="3099816"/>
            <a:ext cx="841248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2"/>
          <p:cNvSpPr/>
          <p:nvPr/>
        </p:nvSpPr>
        <p:spPr>
          <a:xfrm>
            <a:off x="566928" y="3136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3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and queueing</a:t>
            </a:r>
          </a:p>
        </p:txBody>
      </p:sp>
      <p:sp>
        <p:nvSpPr>
          <p:cNvPr id="23" name="Shape 23"/>
          <p:cNvSpPr/>
          <p:nvPr/>
        </p:nvSpPr>
        <p:spPr>
          <a:xfrm>
            <a:off x="3246120" y="3163824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4"/>
          <p:cNvSpPr/>
          <p:nvPr/>
        </p:nvSpPr>
        <p:spPr>
          <a:xfrm>
            <a:off x="3401568" y="31363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running and requests waiting, exactly</a:t>
            </a:r>
          </a:p>
        </p:txBody>
      </p:sp>
      <p:sp>
        <p:nvSpPr>
          <p:cNvPr id="25" name="Shape 25"/>
          <p:cNvSpPr/>
          <p:nvPr/>
        </p:nvSpPr>
        <p:spPr>
          <a:xfrm>
            <a:off x="6144768" y="3163824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6"/>
          <p:cNvSpPr/>
          <p:nvPr/>
        </p:nvSpPr>
        <p:spPr>
          <a:xfrm>
            <a:off x="6382512" y="3136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slots out of -np, inferred from slot log lines</a:t>
            </a:r>
          </a:p>
        </p:txBody>
      </p:sp>
      <p:sp>
        <p:nvSpPr>
          <p:cNvPr id="27" name="Shape 27"/>
          <p:cNvSpPr/>
          <p:nvPr/>
        </p:nvSpPr>
        <p:spPr>
          <a:xfrm>
            <a:off x="365760" y="3584448"/>
            <a:ext cx="841248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8"/>
          <p:cNvSpPr/>
          <p:nvPr/>
        </p:nvSpPr>
        <p:spPr>
          <a:xfrm>
            <a:off x="566928" y="36210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3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and prompt reuse</a:t>
            </a:r>
          </a:p>
        </p:txBody>
      </p:sp>
      <p:sp>
        <p:nvSpPr>
          <p:cNvPr id="29" name="Shape 29"/>
          <p:cNvSpPr/>
          <p:nvPr/>
        </p:nvSpPr>
        <p:spPr>
          <a:xfrm>
            <a:off x="3246120" y="3648456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30"/>
          <p:cNvSpPr/>
          <p:nvPr/>
        </p:nvSpPr>
        <p:spPr>
          <a:xfrm>
            <a:off x="3401568" y="36210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percentage and prefix hit rate, directly</a:t>
            </a:r>
          </a:p>
        </p:txBody>
      </p:sp>
      <p:sp>
        <p:nvSpPr>
          <p:cNvPr id="31" name="Shape 31"/>
          <p:cNvSpPr/>
          <p:nvPr/>
        </p:nvSpPr>
        <p:spPr>
          <a:xfrm>
            <a:off x="6144768" y="3648456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2"/>
          <p:cNvSpPr/>
          <p:nvPr/>
        </p:nvSpPr>
        <p:spPr>
          <a:xfrm>
            <a:off x="6382512" y="36210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token counts, plus the RAM prompt cache</a:t>
            </a:r>
          </a:p>
        </p:txBody>
      </p:sp>
      <p:sp>
        <p:nvSpPr>
          <p:cNvPr id="33" name="Shape 33"/>
          <p:cNvSpPr/>
          <p:nvPr/>
        </p:nvSpPr>
        <p:spPr>
          <a:xfrm>
            <a:off x="365760" y="4069080"/>
            <a:ext cx="841248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4"/>
          <p:cNvSpPr/>
          <p:nvPr/>
        </p:nvSpPr>
        <p:spPr>
          <a:xfrm>
            <a:off x="566928" y="4105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3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 GPU, or spilled to CPU</a:t>
            </a:r>
          </a:p>
        </p:txBody>
      </p:sp>
      <p:sp>
        <p:nvSpPr>
          <p:cNvPr id="35" name="Shape 35"/>
          <p:cNvSpPr/>
          <p:nvPr/>
        </p:nvSpPr>
        <p:spPr>
          <a:xfrm>
            <a:off x="3246120" y="4133088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36"/>
          <p:cNvSpPr/>
          <p:nvPr/>
        </p:nvSpPr>
        <p:spPr>
          <a:xfrm>
            <a:off x="3401568" y="41056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spills — it reserves its VRAM once at startup</a:t>
            </a:r>
          </a:p>
        </p:txBody>
      </p:sp>
      <p:sp>
        <p:nvSpPr>
          <p:cNvPr id="37" name="Shape 37"/>
          <p:cNvSpPr/>
          <p:nvPr/>
        </p:nvSpPr>
        <p:spPr>
          <a:xfrm>
            <a:off x="6144768" y="4133088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8"/>
          <p:cNvSpPr/>
          <p:nvPr/>
        </p:nvSpPr>
        <p:spPr>
          <a:xfrm>
            <a:off x="6382512" y="41056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against size_vram gives an exact GPU/CPU split</a:t>
            </a:r>
          </a:p>
        </p:txBody>
      </p:sp>
      <p:sp>
        <p:nvSpPr>
          <p:cNvPr id="39" name="Text 39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one is strictly better. </a:t>
            </a:r>
            <a:r>
              <a:rPr lang="en-US" sz="8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reports the server; Ollama alone tells us how much of the model reached the GPU.</a:t>
            </a:r>
          </a:p>
        </p:txBody>
      </p:sp>
      <p:sp>
        <p:nvSpPr>
          <p:cNvPr id="40" name="Shape 4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41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42" name="Text 42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vLLM AND OLLAMA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9FCF4-6151-45B3-BDEA-3A17D016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FC9B03F3-BB79-C6AB-97B3-A0C60198789A}"/>
              </a:ext>
            </a:extLst>
          </p:cNvPr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8E7875C-F9F6-E12B-5DBB-44AD48C1A07B}"/>
              </a:ext>
            </a:extLst>
          </p:cNvPr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METRIC RETRIEVAL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D8C1D1A-2599-BC49-7F00-C23118C4146C}"/>
              </a:ext>
            </a:extLst>
          </p:cNvPr>
          <p:cNvSpPr/>
          <p:nvPr/>
        </p:nvSpPr>
        <p:spPr>
          <a:xfrm>
            <a:off x="196949" y="929383"/>
            <a:ext cx="4341303" cy="2327520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C747C874-6741-4387-4305-EEDA9091A1BB}"/>
              </a:ext>
            </a:extLst>
          </p:cNvPr>
          <p:cNvSpPr/>
          <p:nvPr/>
        </p:nvSpPr>
        <p:spPr>
          <a:xfrm>
            <a:off x="196950" y="943451"/>
            <a:ext cx="73152" cy="32004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7ACFA300-601E-3B11-401B-F85A73E2B4C0}"/>
              </a:ext>
            </a:extLst>
          </p:cNvPr>
          <p:cNvSpPr/>
          <p:nvPr/>
        </p:nvSpPr>
        <p:spPr>
          <a:xfrm>
            <a:off x="379830" y="952487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 err="1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r>
              <a:rPr lang="en-US" sz="1000" b="1" kern="0" spc="4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B04DCCCF-88E8-FAE3-4EA3-DE5513649DF7}"/>
              </a:ext>
            </a:extLst>
          </p:cNvPr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12D399D3-7A82-C79E-7C1D-59A867A17CB8}"/>
              </a:ext>
            </a:extLst>
          </p:cNvPr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48378593-DB17-DCB4-0359-1F1E780BC1F5}"/>
              </a:ext>
            </a:extLst>
          </p:cNvPr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OPEN QUESTIONS</a:t>
            </a:r>
          </a:p>
        </p:txBody>
      </p:sp>
      <p:pic>
        <p:nvPicPr>
          <p:cNvPr id="5" name="Picture 4" descr="The image displays a Local LLM Monitor dashboard for an NVIDIA GeForce RTX 5080 Laptop GPU, showing various metrics such as GPU utilization, memory bandwidth, temperature, and throughput statistics.&#10;&#10;AI-generated content may be incorrect.">
            <a:extLst>
              <a:ext uri="{FF2B5EF4-FFF2-40B4-BE49-F238E27FC236}">
                <a16:creationId xmlns:a16="http://schemas.microsoft.com/office/drawing/2014/main" id="{7C09CF63-E703-F742-55C3-63B02DEC4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4" y="1300067"/>
            <a:ext cx="4264271" cy="1806203"/>
          </a:xfrm>
          <a:prstGeom prst="rect">
            <a:avLst/>
          </a:prstGeom>
        </p:spPr>
      </p:pic>
      <p:sp>
        <p:nvSpPr>
          <p:cNvPr id="7" name="Shape 22">
            <a:extLst>
              <a:ext uri="{FF2B5EF4-FFF2-40B4-BE49-F238E27FC236}">
                <a16:creationId xmlns:a16="http://schemas.microsoft.com/office/drawing/2014/main" id="{FA11D28E-70DA-A360-C3AA-66064775659C}"/>
              </a:ext>
            </a:extLst>
          </p:cNvPr>
          <p:cNvSpPr/>
          <p:nvPr/>
        </p:nvSpPr>
        <p:spPr>
          <a:xfrm>
            <a:off x="4605745" y="930684"/>
            <a:ext cx="4341304" cy="2379619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24">
            <a:extLst>
              <a:ext uri="{FF2B5EF4-FFF2-40B4-BE49-F238E27FC236}">
                <a16:creationId xmlns:a16="http://schemas.microsoft.com/office/drawing/2014/main" id="{77B89BC4-0D9B-B326-62F1-98984D7A600D}"/>
              </a:ext>
            </a:extLst>
          </p:cNvPr>
          <p:cNvSpPr/>
          <p:nvPr/>
        </p:nvSpPr>
        <p:spPr>
          <a:xfrm>
            <a:off x="4605744" y="944752"/>
            <a:ext cx="74689" cy="328537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25">
            <a:extLst>
              <a:ext uri="{FF2B5EF4-FFF2-40B4-BE49-F238E27FC236}">
                <a16:creationId xmlns:a16="http://schemas.microsoft.com/office/drawing/2014/main" id="{C1C0C77C-AC4C-761C-24DA-E465F5D7240E}"/>
              </a:ext>
            </a:extLst>
          </p:cNvPr>
          <p:cNvSpPr/>
          <p:nvPr/>
        </p:nvSpPr>
        <p:spPr>
          <a:xfrm>
            <a:off x="4788624" y="953789"/>
            <a:ext cx="3874497" cy="24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MONITOR</a:t>
            </a:r>
          </a:p>
        </p:txBody>
      </p:sp>
      <p:pic>
        <p:nvPicPr>
          <p:cNvPr id="15" name="Picture 14" descr="The image shows a Local LLM Monitor dashboard displaying the specifications and status of an NVIDIA GeForce RTX 5080 GPU, including memory usage, temperature, and runtime metrics.&#10;&#10;AI-generated content may be incorrect.">
            <a:extLst>
              <a:ext uri="{FF2B5EF4-FFF2-40B4-BE49-F238E27FC236}">
                <a16:creationId xmlns:a16="http://schemas.microsoft.com/office/drawing/2014/main" id="{7E161B00-D8D7-8437-A467-2E61ACA0A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991" y="1281020"/>
            <a:ext cx="4213219" cy="19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93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WE SUPPORT OTHER RUNTIMES?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interface is small. The answer is mostly about what each runtime is willing to tell us.</a:t>
            </a:r>
          </a:p>
        </p:txBody>
      </p:sp>
      <p:sp>
        <p:nvSpPr>
          <p:cNvPr id="5" name="Text 5"/>
          <p:cNvSpPr/>
          <p:nvPr/>
        </p:nvSpPr>
        <p:spPr>
          <a:xfrm>
            <a:off x="365760" y="9692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CANDIDATES — RANKED BY HOW MUCH NEW CODE EACH ONE NEEDS</a:t>
            </a:r>
          </a:p>
        </p:txBody>
      </p:sp>
      <p:sp>
        <p:nvSpPr>
          <p:cNvPr id="6" name="Shape 6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7"/>
          <p:cNvSpPr/>
          <p:nvPr/>
        </p:nvSpPr>
        <p:spPr>
          <a:xfrm>
            <a:off x="365760" y="1188720"/>
            <a:ext cx="118872" cy="566928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8"/>
          <p:cNvSpPr/>
          <p:nvPr/>
        </p:nvSpPr>
        <p:spPr>
          <a:xfrm>
            <a:off x="566928" y="13533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</a:p>
        </p:txBody>
      </p:sp>
      <p:sp>
        <p:nvSpPr>
          <p:cNvPr id="9" name="Shape 9"/>
          <p:cNvSpPr/>
          <p:nvPr/>
        </p:nvSpPr>
        <p:spPr>
          <a:xfrm>
            <a:off x="1078992" y="1271016"/>
            <a:ext cx="0" cy="40233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10"/>
          <p:cNvSpPr/>
          <p:nvPr/>
        </p:nvSpPr>
        <p:spPr>
          <a:xfrm>
            <a:off x="1243584" y="1243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/ llama-server</a:t>
            </a:r>
          </a:p>
        </p:txBody>
      </p:sp>
      <p:sp>
        <p:nvSpPr>
          <p:cNvPr id="11" name="Text 11"/>
          <p:cNvSpPr/>
          <p:nvPr/>
        </p:nvSpPr>
        <p:spPr>
          <a:xfrm>
            <a:off x="1243584" y="147218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Straightforward · same log, and real metrics</a:t>
            </a:r>
          </a:p>
        </p:txBody>
      </p:sp>
      <p:sp>
        <p:nvSpPr>
          <p:cNvPr id="12" name="Text 12"/>
          <p:cNvSpPr/>
          <p:nvPr/>
        </p:nvSpPr>
        <p:spPr>
          <a:xfrm>
            <a:off x="4069080" y="12618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Ollama log parsers already work — and llama-server serves /metrics too.</a:t>
            </a:r>
          </a:p>
        </p:txBody>
      </p:sp>
      <p:sp>
        <p:nvSpPr>
          <p:cNvPr id="13" name="Shape 13"/>
          <p:cNvSpPr/>
          <p:nvPr/>
        </p:nvSpPr>
        <p:spPr>
          <a:xfrm>
            <a:off x="365760" y="1879092"/>
            <a:ext cx="8412480" cy="566928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4"/>
          <p:cNvSpPr/>
          <p:nvPr/>
        </p:nvSpPr>
        <p:spPr>
          <a:xfrm>
            <a:off x="365760" y="1879092"/>
            <a:ext cx="118872" cy="566928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5"/>
          <p:cNvSpPr/>
          <p:nvPr/>
        </p:nvSpPr>
        <p:spPr>
          <a:xfrm>
            <a:off x="566928" y="204368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</a:p>
        </p:txBody>
      </p:sp>
      <p:sp>
        <p:nvSpPr>
          <p:cNvPr id="16" name="Shape 16"/>
          <p:cNvSpPr/>
          <p:nvPr/>
        </p:nvSpPr>
        <p:spPr>
          <a:xfrm>
            <a:off x="1078992" y="1961388"/>
            <a:ext cx="0" cy="40233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7"/>
          <p:cNvSpPr/>
          <p:nvPr/>
        </p:nvSpPr>
        <p:spPr>
          <a:xfrm>
            <a:off x="1243584" y="19339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</a:p>
        </p:txBody>
      </p:sp>
      <p:sp>
        <p:nvSpPr>
          <p:cNvPr id="18" name="Text 18"/>
          <p:cNvSpPr/>
          <p:nvPr/>
        </p:nvSpPr>
        <p:spPr>
          <a:xfrm>
            <a:off x="1243584" y="216255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· OpenAI-compatible, but no metrics</a:t>
            </a:r>
          </a:p>
        </p:txBody>
      </p:sp>
      <p:sp>
        <p:nvSpPr>
          <p:cNvPr id="19" name="Text 19"/>
          <p:cNvSpPr/>
          <p:nvPr/>
        </p:nvSpPr>
        <p:spPr>
          <a:xfrm>
            <a:off x="4069080" y="195224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list and load state read cleanly; throughput has to come from its log.</a:t>
            </a:r>
          </a:p>
        </p:txBody>
      </p:sp>
      <p:sp>
        <p:nvSpPr>
          <p:cNvPr id="20" name="Shape 20"/>
          <p:cNvSpPr/>
          <p:nvPr/>
        </p:nvSpPr>
        <p:spPr>
          <a:xfrm>
            <a:off x="365760" y="2569464"/>
            <a:ext cx="8412480" cy="566928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21"/>
          <p:cNvSpPr/>
          <p:nvPr/>
        </p:nvSpPr>
        <p:spPr>
          <a:xfrm>
            <a:off x="365760" y="2569464"/>
            <a:ext cx="118872" cy="566928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2"/>
          <p:cNvSpPr/>
          <p:nvPr/>
        </p:nvSpPr>
        <p:spPr>
          <a:xfrm>
            <a:off x="566928" y="273405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</a:p>
        </p:txBody>
      </p:sp>
      <p:sp>
        <p:nvSpPr>
          <p:cNvPr id="23" name="Shape 23"/>
          <p:cNvSpPr/>
          <p:nvPr/>
        </p:nvSpPr>
        <p:spPr>
          <a:xfrm>
            <a:off x="1078992" y="2651760"/>
            <a:ext cx="0" cy="40233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4"/>
          <p:cNvSpPr/>
          <p:nvPr/>
        </p:nvSpPr>
        <p:spPr>
          <a:xfrm>
            <a:off x="1243584" y="26243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vLLM-shaped: SGLang, TGI</a:t>
            </a:r>
          </a:p>
        </p:txBody>
      </p:sp>
      <p:sp>
        <p:nvSpPr>
          <p:cNvPr id="25" name="Text 25"/>
          <p:cNvSpPr/>
          <p:nvPr/>
        </p:nvSpPr>
        <p:spPr>
          <a:xfrm>
            <a:off x="1243584" y="2852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· Prometheus, different names</a:t>
            </a:r>
          </a:p>
        </p:txBody>
      </p:sp>
      <p:sp>
        <p:nvSpPr>
          <p:cNvPr id="26" name="Text 26"/>
          <p:cNvSpPr/>
          <p:nvPr/>
        </p:nvSpPr>
        <p:spPr>
          <a:xfrm>
            <a:off x="4069080" y="264261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our vLLM provider — largely a rename of counters we read today.</a:t>
            </a:r>
          </a:p>
        </p:txBody>
      </p:sp>
      <p:sp>
        <p:nvSpPr>
          <p:cNvPr id="27" name="Shape 27"/>
          <p:cNvSpPr/>
          <p:nvPr/>
        </p:nvSpPr>
        <p:spPr>
          <a:xfrm>
            <a:off x="365760" y="3259836"/>
            <a:ext cx="8412480" cy="566928"/>
          </a:xfrm>
          <a:prstGeom prst="rect">
            <a:avLst/>
          </a:prstGeom>
          <a:solidFill>
            <a:srgbClr val="0A0A0A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Shape 28"/>
          <p:cNvSpPr/>
          <p:nvPr/>
        </p:nvSpPr>
        <p:spPr>
          <a:xfrm>
            <a:off x="365760" y="3259836"/>
            <a:ext cx="118872" cy="566928"/>
          </a:xfrm>
          <a:prstGeom prst="rect">
            <a:avLst/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9"/>
          <p:cNvSpPr/>
          <p:nvPr/>
        </p:nvSpPr>
        <p:spPr>
          <a:xfrm>
            <a:off x="566928" y="34244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</a:p>
        </p:txBody>
      </p:sp>
      <p:sp>
        <p:nvSpPr>
          <p:cNvPr id="30" name="Shape 30"/>
          <p:cNvSpPr/>
          <p:nvPr/>
        </p:nvSpPr>
        <p:spPr>
          <a:xfrm>
            <a:off x="1078992" y="3342132"/>
            <a:ext cx="0" cy="40233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31"/>
          <p:cNvSpPr/>
          <p:nvPr/>
        </p:nvSpPr>
        <p:spPr>
          <a:xfrm>
            <a:off x="1243584" y="33147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TensorRT-LLM and friends</a:t>
            </a:r>
          </a:p>
        </p:txBody>
      </p:sp>
      <p:sp>
        <p:nvSpPr>
          <p:cNvPr id="32" name="Text 32"/>
          <p:cNvSpPr/>
          <p:nvPr/>
        </p:nvSpPr>
        <p:spPr>
          <a:xfrm>
            <a:off x="1243584" y="35433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 · niche installs, uneven telemetry</a:t>
            </a:r>
          </a:p>
        </p:txBody>
      </p:sp>
      <p:sp>
        <p:nvSpPr>
          <p:cNvPr id="33" name="Text 33"/>
          <p:cNvSpPr/>
          <p:nvPr/>
        </p:nvSpPr>
        <p:spPr>
          <a:xfrm>
            <a:off x="4069080" y="33329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would need its own collector, and few people here would ever run one.</a:t>
            </a:r>
          </a:p>
        </p:txBody>
      </p:sp>
      <p:sp>
        <p:nvSpPr>
          <p:cNvPr id="34" name="Shape 34"/>
          <p:cNvSpPr/>
          <p:nvPr/>
        </p:nvSpPr>
        <p:spPr>
          <a:xfrm>
            <a:off x="365760" y="3986784"/>
            <a:ext cx="4160520" cy="731520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5"/>
          <p:cNvSpPr/>
          <p:nvPr/>
        </p:nvSpPr>
        <p:spPr>
          <a:xfrm>
            <a:off x="548640" y="4069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ACTUALLY COSTS</a:t>
            </a:r>
          </a:p>
        </p:txBody>
      </p:sp>
      <p:sp>
        <p:nvSpPr>
          <p:cNvPr id="36" name="Text 36"/>
          <p:cNvSpPr/>
          <p:nvPr/>
        </p:nvSpPr>
        <p:spPr>
          <a:xfrm>
            <a:off x="548640" y="42793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runtime with no metrics endpoint forces log parsing, and a log format is not an API — it moves between releases without warning.</a:t>
            </a:r>
          </a:p>
        </p:txBody>
      </p:sp>
      <p:sp>
        <p:nvSpPr>
          <p:cNvPr id="37" name="Shape 37"/>
          <p:cNvSpPr/>
          <p:nvPr/>
        </p:nvSpPr>
        <p:spPr>
          <a:xfrm>
            <a:off x="4617720" y="3986784"/>
            <a:ext cx="4160520" cy="731520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8"/>
          <p:cNvSpPr/>
          <p:nvPr/>
        </p:nvSpPr>
        <p:spPr>
          <a:xfrm>
            <a:off x="4800600" y="40690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EXTENDING STAYS CHEAP</a:t>
            </a:r>
          </a:p>
        </p:txBody>
      </p:sp>
      <p:sp>
        <p:nvSpPr>
          <p:cNvPr id="39" name="Text 39"/>
          <p:cNvSpPr/>
          <p:nvPr/>
        </p:nvSpPr>
        <p:spPr>
          <a:xfrm>
            <a:off x="4800600" y="42793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runtime is one class with one read method. The renderer, the GPU collector and the CLI never change.</a:t>
            </a:r>
          </a:p>
        </p:txBody>
      </p:sp>
      <p:sp>
        <p:nvSpPr>
          <p:cNvPr id="40" name="Shape 4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41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42" name="Text 42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OTHER RUNTIMES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DA6C3-96B7-5603-8B37-C217FF42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EF66D60F-810B-9E87-977B-15DE5F1A28F2}"/>
              </a:ext>
            </a:extLst>
          </p:cNvPr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C3FABCE-5AF2-B4CF-B2F8-3BFBA8FAF186}"/>
              </a:ext>
            </a:extLst>
          </p:cNvPr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METRIC RETRIEVAL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4BCE5823-F4E2-1AF6-DF2C-F129E91DD027}"/>
              </a:ext>
            </a:extLst>
          </p:cNvPr>
          <p:cNvSpPr/>
          <p:nvPr/>
        </p:nvSpPr>
        <p:spPr>
          <a:xfrm>
            <a:off x="320040" y="935590"/>
            <a:ext cx="8412480" cy="2678048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55AC7FF-3B45-0D38-E768-B1091C112DC0}"/>
              </a:ext>
            </a:extLst>
          </p:cNvPr>
          <p:cNvSpPr/>
          <p:nvPr/>
        </p:nvSpPr>
        <p:spPr>
          <a:xfrm>
            <a:off x="320040" y="949658"/>
            <a:ext cx="73152" cy="32004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2495121C-656C-8949-EC55-BCA36888C3E8}"/>
              </a:ext>
            </a:extLst>
          </p:cNvPr>
          <p:cNvSpPr/>
          <p:nvPr/>
        </p:nvSpPr>
        <p:spPr>
          <a:xfrm>
            <a:off x="502920" y="1106449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SCOPE</a:t>
            </a: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897D88AA-A0BB-1C4D-3BA1-150E68D7D51C}"/>
              </a:ext>
            </a:extLst>
          </p:cNvPr>
          <p:cNvSpPr/>
          <p:nvPr/>
        </p:nvSpPr>
        <p:spPr>
          <a:xfrm>
            <a:off x="502920" y="1380769"/>
            <a:ext cx="8046720" cy="2153739"/>
          </a:xfrm>
          <a:prstGeom prst="rect">
            <a:avLst/>
          </a:prstGeom>
          <a:noFill/>
          <a:ln/>
        </p:spPr>
        <p:txBody>
          <a:bodyPr wrap="square" lIns="0" tIns="0" rIns="0" bIns="0" numCol="2" spcCol="360000" rtlCol="0" anchor="t"/>
          <a:lstStyle/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any target runtimes/hosting platforms in mind?</a:t>
            </a:r>
          </a:p>
          <a:p>
            <a:pPr marL="713232" lvl="1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unify the metrics collection process using a proxy – still need more investigation on whether it is feasible and beneficial.</a:t>
            </a:r>
          </a:p>
          <a:p>
            <a:pPr marL="713232" lvl="1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user be open to proxying their setup through us? 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Training?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7F1E5ED5-08A0-FD51-EC12-54825B0F076E}"/>
              </a:ext>
            </a:extLst>
          </p:cNvPr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67D035AF-98CF-57C4-AA2B-13449B2E0786}"/>
              </a:ext>
            </a:extLst>
          </p:cNvPr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F55EF6B0-074F-1734-2A6C-A5FC4BAED1B7}"/>
              </a:ext>
            </a:extLst>
          </p:cNvPr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OPEN QUESTIONS</a:t>
            </a:r>
          </a:p>
        </p:txBody>
      </p:sp>
    </p:spTree>
    <p:extLst>
      <p:ext uri="{BB962C8B-B14F-4D97-AF65-F5344CB8AC3E}">
        <p14:creationId xmlns:p14="http://schemas.microsoft.com/office/powerpoint/2010/main" val="7299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457200" y="2029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</a:t>
            </a:r>
          </a:p>
        </p:txBody>
      </p:sp>
      <p:sp>
        <p:nvSpPr>
          <p:cNvPr id="4" name="Text 4"/>
          <p:cNvSpPr/>
          <p:nvPr/>
        </p:nvSpPr>
        <p:spPr>
          <a:xfrm>
            <a:off x="457200" y="2505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</a:t>
            </a:r>
          </a:p>
        </p:txBody>
      </p:sp>
      <p:sp>
        <p:nvSpPr>
          <p:cNvPr id="5" name="Text 5"/>
          <p:cNvSpPr/>
          <p:nvPr/>
        </p:nvSpPr>
        <p:spPr>
          <a:xfrm>
            <a:off x="45720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unelevated Node process can hold the machine awake. The lid is a separate problem.</a:t>
            </a:r>
          </a:p>
        </p:txBody>
      </p:sp>
      <p:sp>
        <p:nvSpPr>
          <p:cNvPr id="6" name="Shape 6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7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KERNEL32 VIA FFI</a:t>
            </a:r>
          </a:p>
        </p:txBody>
      </p:sp>
      <p:sp>
        <p:nvSpPr>
          <p:cNvPr id="8" name="Text 8"/>
          <p:cNvSpPr/>
          <p:nvPr/>
        </p:nvSpPr>
        <p:spPr>
          <a:xfrm>
            <a:off x="457200" y="4041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requests need no elevation  ·  The lid needs a power-policy change</a:t>
            </a:r>
          </a:p>
        </p:txBody>
      </p:sp>
      <p:sp>
        <p:nvSpPr>
          <p:cNvPr id="9" name="Text 9"/>
          <p:cNvSpPr/>
          <p:nvPr/>
        </p:nvSpPr>
        <p:spPr>
          <a:xfrm>
            <a:off x="457200" y="4370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OF III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11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AT A GLANCE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 hold the machine awake, and where the one real caveat sits.</a:t>
            </a:r>
          </a:p>
        </p:txBody>
      </p:sp>
      <p:sp>
        <p:nvSpPr>
          <p:cNvPr id="5" name="Shape 5"/>
          <p:cNvSpPr/>
          <p:nvPr/>
        </p:nvSpPr>
        <p:spPr>
          <a:xfrm>
            <a:off x="365760" y="1051560"/>
            <a:ext cx="2651760" cy="1572768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6"/>
          <p:cNvSpPr/>
          <p:nvPr/>
        </p:nvSpPr>
        <p:spPr>
          <a:xfrm>
            <a:off x="365760" y="1051560"/>
            <a:ext cx="182880" cy="1572768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7"/>
          <p:cNvSpPr/>
          <p:nvPr/>
        </p:nvSpPr>
        <p:spPr>
          <a:xfrm>
            <a:off x="685800" y="11430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</a:p>
        </p:txBody>
      </p:sp>
      <p:sp>
        <p:nvSpPr>
          <p:cNvPr id="8" name="Text 8"/>
          <p:cNvSpPr/>
          <p:nvPr/>
        </p:nvSpPr>
        <p:spPr>
          <a:xfrm>
            <a:off x="685800" y="13533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</a:p>
        </p:txBody>
      </p:sp>
      <p:sp>
        <p:nvSpPr>
          <p:cNvPr id="9" name="Text 9"/>
          <p:cNvSpPr/>
          <p:nvPr/>
        </p:nvSpPr>
        <p:spPr>
          <a:xfrm>
            <a:off x="685800" y="1901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9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power-request call runs from a normal desktop process. Reaching them through an FFI binding does not change that.</a:t>
            </a:r>
          </a:p>
        </p:txBody>
      </p:sp>
      <p:sp>
        <p:nvSpPr>
          <p:cNvPr id="10" name="Shape 10"/>
          <p:cNvSpPr/>
          <p:nvPr/>
        </p:nvSpPr>
        <p:spPr>
          <a:xfrm>
            <a:off x="3246120" y="1051560"/>
            <a:ext cx="2651760" cy="1572768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11"/>
          <p:cNvSpPr/>
          <p:nvPr/>
        </p:nvSpPr>
        <p:spPr>
          <a:xfrm>
            <a:off x="3246120" y="1051560"/>
            <a:ext cx="182880" cy="1572768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2"/>
          <p:cNvSpPr/>
          <p:nvPr/>
        </p:nvSpPr>
        <p:spPr>
          <a:xfrm>
            <a:off x="3566160" y="11430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</a:p>
        </p:txBody>
      </p:sp>
      <p:sp>
        <p:nvSpPr>
          <p:cNvPr id="13" name="Text 13"/>
          <p:cNvSpPr/>
          <p:nvPr/>
        </p:nvSpPr>
        <p:spPr>
          <a:xfrm>
            <a:off x="3566160" y="13533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</a:p>
        </p:txBody>
      </p:sp>
      <p:sp>
        <p:nvSpPr>
          <p:cNvPr id="14" name="Text 14"/>
          <p:cNvSpPr/>
          <p:nvPr/>
        </p:nvSpPr>
        <p:spPr>
          <a:xfrm>
            <a:off x="3566160" y="1901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9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PowerCreateRequest and PowerSetRequest have shipped since Windows 7. Both are exported by Kernel32.dll.</a:t>
            </a:r>
          </a:p>
        </p:txBody>
      </p:sp>
      <p:sp>
        <p:nvSpPr>
          <p:cNvPr id="15" name="Shape 15"/>
          <p:cNvSpPr/>
          <p:nvPr/>
        </p:nvSpPr>
        <p:spPr>
          <a:xfrm>
            <a:off x="6126480" y="1051560"/>
            <a:ext cx="2651760" cy="1572768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6"/>
          <p:cNvSpPr/>
          <p:nvPr/>
        </p:nvSpPr>
        <p:spPr>
          <a:xfrm>
            <a:off x="6126480" y="1051560"/>
            <a:ext cx="182880" cy="1572768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7"/>
          <p:cNvSpPr/>
          <p:nvPr/>
        </p:nvSpPr>
        <p:spPr>
          <a:xfrm>
            <a:off x="6446520" y="11430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</a:p>
        </p:txBody>
      </p:sp>
      <p:sp>
        <p:nvSpPr>
          <p:cNvPr id="18" name="Text 18"/>
          <p:cNvSpPr/>
          <p:nvPr/>
        </p:nvSpPr>
        <p:spPr>
          <a:xfrm>
            <a:off x="6446520" y="13533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</a:p>
        </p:txBody>
      </p:sp>
      <p:sp>
        <p:nvSpPr>
          <p:cNvPr id="19" name="Text 19"/>
          <p:cNvSpPr/>
          <p:nvPr/>
        </p:nvSpPr>
        <p:spPr>
          <a:xfrm>
            <a:off x="6446520" y="1901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9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Koffi needs Node 16 or later. Target a supported LTS — 18 and 20 are both end-of-life.</a:t>
            </a:r>
          </a:p>
        </p:txBody>
      </p:sp>
      <p:sp>
        <p:nvSpPr>
          <p:cNvPr id="20" name="Shape 20"/>
          <p:cNvSpPr/>
          <p:nvPr/>
        </p:nvSpPr>
        <p:spPr>
          <a:xfrm>
            <a:off x="365760" y="2761488"/>
            <a:ext cx="4160520" cy="1371600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21"/>
          <p:cNvSpPr/>
          <p:nvPr/>
        </p:nvSpPr>
        <p:spPr>
          <a:xfrm>
            <a:off x="365760" y="2761488"/>
            <a:ext cx="320040" cy="7315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2"/>
          <p:cNvSpPr/>
          <p:nvPr/>
        </p:nvSpPr>
        <p:spPr>
          <a:xfrm>
            <a:off x="365760" y="2761488"/>
            <a:ext cx="73152" cy="32004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3"/>
          <p:cNvSpPr/>
          <p:nvPr/>
        </p:nvSpPr>
        <p:spPr>
          <a:xfrm>
            <a:off x="548640" y="296265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UNELEVATED</a:t>
            </a:r>
          </a:p>
        </p:txBody>
      </p:sp>
      <p:sp>
        <p:nvSpPr>
          <p:cNvPr id="24" name="Text 24"/>
          <p:cNvSpPr/>
          <p:nvPr/>
        </p:nvSpPr>
        <p:spPr>
          <a:xfrm>
            <a:off x="548640" y="33284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88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PowerCreateRequest and PowerSetRequest — the whole idle-sleep path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88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SetThreadExecutionState — for a small synchronous program</a:t>
            </a:r>
          </a:p>
        </p:txBody>
      </p:sp>
      <p:sp>
        <p:nvSpPr>
          <p:cNvPr id="25" name="Shape 25"/>
          <p:cNvSpPr/>
          <p:nvPr/>
        </p:nvSpPr>
        <p:spPr>
          <a:xfrm>
            <a:off x="4617720" y="2761488"/>
            <a:ext cx="4160520" cy="1371600"/>
          </a:xfrm>
          <a:prstGeom prst="rect">
            <a:avLst/>
          </a:prstGeom>
          <a:solidFill>
            <a:srgbClr val="0A0A0A"/>
          </a:solidFill>
          <a:ln w="1905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26"/>
          <p:cNvSpPr/>
          <p:nvPr/>
        </p:nvSpPr>
        <p:spPr>
          <a:xfrm>
            <a:off x="4617720" y="2761488"/>
            <a:ext cx="320040" cy="73152"/>
          </a:xfrm>
          <a:prstGeom prst="rect">
            <a:avLst/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Shape 27"/>
          <p:cNvSpPr/>
          <p:nvPr/>
        </p:nvSpPr>
        <p:spPr>
          <a:xfrm>
            <a:off x="4617720" y="2761488"/>
            <a:ext cx="73152" cy="320040"/>
          </a:xfrm>
          <a:prstGeom prst="rect">
            <a:avLst/>
          </a:prstGeom>
          <a:solidFill>
            <a:srgbClr val="CFCFC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8"/>
          <p:cNvSpPr/>
          <p:nvPr/>
        </p:nvSpPr>
        <p:spPr>
          <a:xfrm>
            <a:off x="4800600" y="296265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MIGHT NOT</a:t>
            </a:r>
          </a:p>
        </p:txBody>
      </p:sp>
      <p:sp>
        <p:nvSpPr>
          <p:cNvPr id="29" name="Text 29"/>
          <p:cNvSpPr/>
          <p:nvPr/>
        </p:nvSpPr>
        <p:spPr>
          <a:xfrm>
            <a:off x="4800600" y="33284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6032" indent="-256032">
              <a:lnSpc>
                <a:spcPct val="112000"/>
              </a:lnSpc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lid action writes to the active power scheme</a:t>
            </a:r>
          </a:p>
          <a:p>
            <a:pPr marL="256032" indent="-256032">
              <a:lnSpc>
                <a:spcPct val="112000"/>
              </a:lnSpc>
              <a:spcAft>
                <a:spcPts val="400"/>
              </a:spcAft>
              <a:buSzPct val="100000"/>
              <a:buChar char="■"/>
            </a:pP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ACL or Group Policy can refuse it — try unelevated, then check</a:t>
            </a:r>
          </a:p>
        </p:txBody>
      </p:sp>
      <p:sp>
        <p:nvSpPr>
          <p:cNvPr id="30" name="Shape 30"/>
          <p:cNvSpPr/>
          <p:nvPr/>
        </p:nvSpPr>
        <p:spPr>
          <a:xfrm>
            <a:off x="365760" y="4279392"/>
            <a:ext cx="8412480" cy="384048"/>
          </a:xfrm>
          <a:prstGeom prst="roundRect">
            <a:avLst>
              <a:gd name="adj" fmla="val 50000"/>
            </a:avLst>
          </a:prstGeom>
          <a:solidFill>
            <a:srgbClr val="2A2418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31"/>
          <p:cNvSpPr/>
          <p:nvPr/>
        </p:nvSpPr>
        <p:spPr>
          <a:xfrm>
            <a:off x="502920" y="427939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</a:p>
        </p:txBody>
      </p:sp>
      <p:sp>
        <p:nvSpPr>
          <p:cNvPr id="32" name="Text 32"/>
          <p:cNvSpPr/>
          <p:nvPr/>
        </p:nvSpPr>
        <p:spPr>
          <a:xfrm>
            <a:off x="1234440" y="427939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LIDACTION is persistent and affects the machine outside our application. Save the previous AC and DC values and restore them when appropriate.</a:t>
            </a:r>
          </a:p>
        </p:txBody>
      </p:sp>
      <p:sp>
        <p:nvSpPr>
          <p:cNvPr id="33" name="Shape 33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4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35" name="Text 35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KEEP-ALIVE AT A GLANCE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REQUIREMENT NEEDS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four need nothing more than a runtime call. The fourth changes machine policy.</a:t>
            </a:r>
          </a:p>
        </p:txBody>
      </p:sp>
      <p:sp>
        <p:nvSpPr>
          <p:cNvPr id="5" name="Shape 5"/>
          <p:cNvSpPr/>
          <p:nvPr/>
        </p:nvSpPr>
        <p:spPr>
          <a:xfrm>
            <a:off x="365760" y="969264"/>
            <a:ext cx="4160520" cy="1133856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6"/>
          <p:cNvSpPr/>
          <p:nvPr/>
        </p:nvSpPr>
        <p:spPr>
          <a:xfrm>
            <a:off x="548640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SEQUENCE</a:t>
            </a:r>
          </a:p>
        </p:txBody>
      </p:sp>
      <p:sp>
        <p:nvSpPr>
          <p:cNvPr id="7" name="Text 7"/>
          <p:cNvSpPr/>
          <p:nvPr/>
        </p:nvSpPr>
        <p:spPr>
          <a:xfrm>
            <a:off x="548640" y="131673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PowerCreateRequest, for a handle with a reason</a:t>
            </a:r>
          </a:p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PowerSetRequest while the work is active</a:t>
            </a:r>
          </a:p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PowerClearRequest, then CloseHandle</a:t>
            </a:r>
          </a:p>
        </p:txBody>
      </p:sp>
      <p:sp>
        <p:nvSpPr>
          <p:cNvPr id="8" name="Shape 8"/>
          <p:cNvSpPr/>
          <p:nvPr/>
        </p:nvSpPr>
        <p:spPr>
          <a:xfrm>
            <a:off x="4617720" y="969264"/>
            <a:ext cx="4160520" cy="1133856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9"/>
          <p:cNvSpPr/>
          <p:nvPr/>
        </p:nvSpPr>
        <p:spPr>
          <a:xfrm>
            <a:off x="4800600" y="1069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THREAD STATE</a:t>
            </a:r>
          </a:p>
        </p:txBody>
      </p:sp>
      <p:sp>
        <p:nvSpPr>
          <p:cNvPr id="10" name="Text 10"/>
          <p:cNvSpPr/>
          <p:nvPr/>
        </p:nvSpPr>
        <p:spPr>
          <a:xfrm>
            <a:off x="4800600" y="131673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execution state is thread-affine</a:t>
            </a:r>
          </a:p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await may resume on a different thread</a:t>
            </a:r>
          </a:p>
          <a:p>
            <a:pPr marL="201168" indent="-201168">
              <a:lnSpc>
                <a:spcPct val="105000"/>
              </a:lnSpc>
              <a:spcAft>
                <a:spcPts val="240"/>
              </a:spcAft>
              <a:buSzPct val="100000"/>
              <a:buChar char="■"/>
            </a:pPr>
            <a:r>
              <a:rPr lang="en-US" sz="8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handle has no thread affinity, so it survives</a:t>
            </a:r>
          </a:p>
        </p:txBody>
      </p:sp>
      <p:sp>
        <p:nvSpPr>
          <p:cNvPr id="11" name="Text 11"/>
          <p:cNvSpPr/>
          <p:nvPr/>
        </p:nvSpPr>
        <p:spPr>
          <a:xfrm>
            <a:off x="365760" y="22311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FOUR REQUIREMENTS SPLIT CLEANLY</a:t>
            </a:r>
          </a:p>
        </p:txBody>
      </p:sp>
      <p:sp>
        <p:nvSpPr>
          <p:cNvPr id="12" name="Text 12"/>
          <p:cNvSpPr/>
          <p:nvPr/>
        </p:nvSpPr>
        <p:spPr>
          <a:xfrm>
            <a:off x="566928" y="2432304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</a:t>
            </a:r>
          </a:p>
        </p:txBody>
      </p:sp>
      <p:sp>
        <p:nvSpPr>
          <p:cNvPr id="13" name="Text 13"/>
          <p:cNvSpPr/>
          <p:nvPr/>
        </p:nvSpPr>
        <p:spPr>
          <a:xfrm>
            <a:off x="3401568" y="243230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</a:p>
        </p:txBody>
      </p:sp>
      <p:sp>
        <p:nvSpPr>
          <p:cNvPr id="14" name="Text 14"/>
          <p:cNvSpPr/>
          <p:nvPr/>
        </p:nvSpPr>
        <p:spPr>
          <a:xfrm>
            <a:off x="6382512" y="2432304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</a:p>
        </p:txBody>
      </p:sp>
      <p:sp>
        <p:nvSpPr>
          <p:cNvPr id="15" name="Shape 15"/>
          <p:cNvSpPr/>
          <p:nvPr/>
        </p:nvSpPr>
        <p:spPr>
          <a:xfrm>
            <a:off x="365760" y="2615184"/>
            <a:ext cx="841248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6"/>
          <p:cNvSpPr/>
          <p:nvPr/>
        </p:nvSpPr>
        <p:spPr>
          <a:xfrm>
            <a:off x="566928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3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automatic idle sleep</a:t>
            </a:r>
          </a:p>
        </p:txBody>
      </p:sp>
      <p:sp>
        <p:nvSpPr>
          <p:cNvPr id="17" name="Shape 17"/>
          <p:cNvSpPr/>
          <p:nvPr/>
        </p:nvSpPr>
        <p:spPr>
          <a:xfrm>
            <a:off x="3246120" y="2679192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8"/>
          <p:cNvSpPr/>
          <p:nvPr/>
        </p:nvSpPr>
        <p:spPr>
          <a:xfrm>
            <a:off x="3401568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PowerCreateRequest, then PowerSetRequest</a:t>
            </a:r>
          </a:p>
        </p:txBody>
      </p:sp>
      <p:sp>
        <p:nvSpPr>
          <p:cNvPr id="19" name="Shape 19"/>
          <p:cNvSpPr/>
          <p:nvPr/>
        </p:nvSpPr>
        <p:spPr>
          <a:xfrm>
            <a:off x="6144768" y="2679192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20"/>
          <p:cNvSpPr/>
          <p:nvPr/>
        </p:nvSpPr>
        <p:spPr>
          <a:xfrm>
            <a:off x="6382512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</a:p>
        </p:txBody>
      </p:sp>
      <p:sp>
        <p:nvSpPr>
          <p:cNvPr id="21" name="Shape 21"/>
          <p:cNvSpPr/>
          <p:nvPr/>
        </p:nvSpPr>
        <p:spPr>
          <a:xfrm>
            <a:off x="365760" y="3099816"/>
            <a:ext cx="841248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2"/>
          <p:cNvSpPr/>
          <p:nvPr/>
        </p:nvSpPr>
        <p:spPr>
          <a:xfrm>
            <a:off x="566928" y="3136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3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idle sleep, thread-scoped</a:t>
            </a:r>
          </a:p>
        </p:txBody>
      </p:sp>
      <p:sp>
        <p:nvSpPr>
          <p:cNvPr id="23" name="Shape 23"/>
          <p:cNvSpPr/>
          <p:nvPr/>
        </p:nvSpPr>
        <p:spPr>
          <a:xfrm>
            <a:off x="3246120" y="3163824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4"/>
          <p:cNvSpPr/>
          <p:nvPr/>
        </p:nvSpPr>
        <p:spPr>
          <a:xfrm>
            <a:off x="3401568" y="31363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SetThreadExecutionState</a:t>
            </a:r>
          </a:p>
        </p:txBody>
      </p:sp>
      <p:sp>
        <p:nvSpPr>
          <p:cNvPr id="25" name="Shape 25"/>
          <p:cNvSpPr/>
          <p:nvPr/>
        </p:nvSpPr>
        <p:spPr>
          <a:xfrm>
            <a:off x="6144768" y="3163824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6"/>
          <p:cNvSpPr/>
          <p:nvPr/>
        </p:nvSpPr>
        <p:spPr>
          <a:xfrm>
            <a:off x="6382512" y="31363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</a:p>
        </p:txBody>
      </p:sp>
      <p:sp>
        <p:nvSpPr>
          <p:cNvPr id="27" name="Shape 27"/>
          <p:cNvSpPr/>
          <p:nvPr/>
        </p:nvSpPr>
        <p:spPr>
          <a:xfrm>
            <a:off x="365760" y="3584448"/>
            <a:ext cx="841248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8"/>
          <p:cNvSpPr/>
          <p:nvPr/>
        </p:nvSpPr>
        <p:spPr>
          <a:xfrm>
            <a:off x="566928" y="362102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3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display on</a:t>
            </a:r>
          </a:p>
        </p:txBody>
      </p:sp>
      <p:sp>
        <p:nvSpPr>
          <p:cNvPr id="29" name="Shape 29"/>
          <p:cNvSpPr/>
          <p:nvPr/>
        </p:nvSpPr>
        <p:spPr>
          <a:xfrm>
            <a:off x="3246120" y="3648456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30"/>
          <p:cNvSpPr/>
          <p:nvPr/>
        </p:nvSpPr>
        <p:spPr>
          <a:xfrm>
            <a:off x="3401568" y="36210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display-required power request</a:t>
            </a:r>
          </a:p>
        </p:txBody>
      </p:sp>
      <p:sp>
        <p:nvSpPr>
          <p:cNvPr id="31" name="Shape 31"/>
          <p:cNvSpPr/>
          <p:nvPr/>
        </p:nvSpPr>
        <p:spPr>
          <a:xfrm>
            <a:off x="6144768" y="3648456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2"/>
          <p:cNvSpPr/>
          <p:nvPr/>
        </p:nvSpPr>
        <p:spPr>
          <a:xfrm>
            <a:off x="6382512" y="36210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</a:p>
        </p:txBody>
      </p:sp>
      <p:sp>
        <p:nvSpPr>
          <p:cNvPr id="33" name="Shape 33"/>
          <p:cNvSpPr/>
          <p:nvPr/>
        </p:nvSpPr>
        <p:spPr>
          <a:xfrm>
            <a:off x="365760" y="4069080"/>
            <a:ext cx="8412480" cy="438912"/>
          </a:xfrm>
          <a:prstGeom prst="rect">
            <a:avLst/>
          </a:prstGeom>
          <a:solidFill>
            <a:srgbClr val="0A0A0A"/>
          </a:solidFill>
          <a:ln w="1905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4"/>
          <p:cNvSpPr/>
          <p:nvPr/>
        </p:nvSpPr>
        <p:spPr>
          <a:xfrm>
            <a:off x="566928" y="4105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3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lid-close sleep</a:t>
            </a:r>
          </a:p>
        </p:txBody>
      </p:sp>
      <p:sp>
        <p:nvSpPr>
          <p:cNvPr id="35" name="Shape 35"/>
          <p:cNvSpPr/>
          <p:nvPr/>
        </p:nvSpPr>
        <p:spPr>
          <a:xfrm>
            <a:off x="3246120" y="4133088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36"/>
          <p:cNvSpPr/>
          <p:nvPr/>
        </p:nvSpPr>
        <p:spPr>
          <a:xfrm>
            <a:off x="3401568" y="41056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LIDACTION to 0, on AC and DC</a:t>
            </a:r>
          </a:p>
        </p:txBody>
      </p:sp>
      <p:sp>
        <p:nvSpPr>
          <p:cNvPr id="37" name="Shape 37"/>
          <p:cNvSpPr/>
          <p:nvPr/>
        </p:nvSpPr>
        <p:spPr>
          <a:xfrm>
            <a:off x="6144768" y="4133088"/>
            <a:ext cx="0" cy="310896"/>
          </a:xfrm>
          <a:prstGeom prst="line">
            <a:avLst/>
          </a:prstGeom>
          <a:noFill/>
          <a:ln w="12700">
            <a:solidFill>
              <a:srgbClr val="2E3A4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8"/>
          <p:cNvSpPr/>
          <p:nvPr/>
        </p:nvSpPr>
        <p:spPr>
          <a:xfrm>
            <a:off x="6382512" y="41056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3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power-policy ACL or Group Policy</a:t>
            </a:r>
          </a:p>
        </p:txBody>
      </p:sp>
      <p:sp>
        <p:nvSpPr>
          <p:cNvPr id="39" name="Text 39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lid is policy. </a:t>
            </a:r>
            <a:r>
              <a:rPr lang="en-US" sz="8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prevents idle sleep is a plain unelevated call into Kernel32. Only the lid action touches the power scheme.</a:t>
            </a:r>
          </a:p>
        </p:txBody>
      </p:sp>
      <p:sp>
        <p:nvSpPr>
          <p:cNvPr id="40" name="Shape 4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41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42" name="Text 42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WHAT EACH REQUIREMENT NEEDS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STATE, AND THE LID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SetThreadExecutionState still has a place — and the lid needs the power scheme, not an API call.</a:t>
            </a:r>
          </a:p>
        </p:txBody>
      </p:sp>
      <p:sp>
        <p:nvSpPr>
          <p:cNvPr id="5" name="Shape 5"/>
          <p:cNvSpPr/>
          <p:nvPr/>
        </p:nvSpPr>
        <p:spPr>
          <a:xfrm>
            <a:off x="365760" y="1051560"/>
            <a:ext cx="4160520" cy="2377440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6"/>
          <p:cNvSpPr/>
          <p:nvPr/>
        </p:nvSpPr>
        <p:spPr>
          <a:xfrm>
            <a:off x="365760" y="1051560"/>
            <a:ext cx="320040" cy="7315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7"/>
          <p:cNvSpPr/>
          <p:nvPr/>
        </p:nvSpPr>
        <p:spPr>
          <a:xfrm>
            <a:off x="365760" y="1051560"/>
            <a:ext cx="73152" cy="320040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8"/>
          <p:cNvSpPr/>
          <p:nvPr/>
        </p:nvSpPr>
        <p:spPr>
          <a:xfrm>
            <a:off x="548640" y="12527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SETTHREADEXECUTIONSTATE, HONESTLY</a:t>
            </a:r>
          </a:p>
        </p:txBody>
      </p:sp>
      <p:sp>
        <p:nvSpPr>
          <p:cNvPr id="9" name="Text 9"/>
          <p:cNvSpPr/>
          <p:nvPr/>
        </p:nvSpPr>
        <p:spPr>
          <a:xfrm>
            <a:off x="548640" y="161848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ES_CONTINUOUS | ES_SYSTEM_REQUIRED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system awake, display may sleep</a:t>
            </a:r>
          </a:p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ES_DISPLAY_REQUIRED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keeps the display awake as well</a:t>
            </a:r>
          </a:p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with ES_CONTINUOUS alone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from the same thread that set it</a:t>
            </a:r>
          </a:p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ES_CONTINUOUS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resets the idle timer once, then stops mattering</a:t>
            </a:r>
          </a:p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lid answer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ES_AWAYMODE_REQUIRED is a media flag, not a workaround</a:t>
            </a:r>
          </a:p>
        </p:txBody>
      </p:sp>
      <p:sp>
        <p:nvSpPr>
          <p:cNvPr id="10" name="Shape 10"/>
          <p:cNvSpPr/>
          <p:nvPr/>
        </p:nvSpPr>
        <p:spPr>
          <a:xfrm>
            <a:off x="4617720" y="1051560"/>
            <a:ext cx="4160520" cy="2377440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11"/>
          <p:cNvSpPr/>
          <p:nvPr/>
        </p:nvSpPr>
        <p:spPr>
          <a:xfrm>
            <a:off x="4617720" y="1051560"/>
            <a:ext cx="320040" cy="73152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2"/>
          <p:cNvSpPr/>
          <p:nvPr/>
        </p:nvSpPr>
        <p:spPr>
          <a:xfrm>
            <a:off x="4617720" y="1051560"/>
            <a:ext cx="73152" cy="32004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3"/>
          <p:cNvSpPr/>
          <p:nvPr/>
        </p:nvSpPr>
        <p:spPr>
          <a:xfrm>
            <a:off x="4800600" y="12527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LID-CLOSE BEHAVIOUR</a:t>
            </a:r>
          </a:p>
        </p:txBody>
      </p:sp>
      <p:sp>
        <p:nvSpPr>
          <p:cNvPr id="14" name="Text 14"/>
          <p:cNvSpPr/>
          <p:nvPr/>
        </p:nvSpPr>
        <p:spPr>
          <a:xfrm>
            <a:off x="4800600" y="1618488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requests do not override it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lid is an explicit sleep action</a:t>
            </a:r>
          </a:p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powercfg, SUB_BUTTONS, LIDACTION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set the AC value, the DC value, then activate</a:t>
            </a:r>
          </a:p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and DC are separate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plugged in and on battery configure independently</a:t>
            </a:r>
          </a:p>
          <a:p>
            <a:pPr marL="256032" indent="-256032">
              <a:lnSpc>
                <a:spcPct val="112000"/>
              </a:lnSpc>
              <a:spcAft>
                <a:spcPts val="340"/>
              </a:spcAft>
              <a:buSzPct val="100000"/>
              <a:buChar char="■"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permitted</a:t>
            </a:r>
            <a:r>
              <a:rPr lang="en-US" sz="9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an administrator or Group Policy can restrict it</a:t>
            </a:r>
          </a:p>
        </p:txBody>
      </p:sp>
      <p:sp>
        <p:nvSpPr>
          <p:cNvPr id="15" name="Shape 15"/>
          <p:cNvSpPr/>
          <p:nvPr/>
        </p:nvSpPr>
        <p:spPr>
          <a:xfrm>
            <a:off x="365760" y="3566160"/>
            <a:ext cx="4160520" cy="1097280"/>
          </a:xfrm>
          <a:prstGeom prst="rect">
            <a:avLst/>
          </a:prstGeom>
          <a:solidFill>
            <a:srgbClr val="0A0A0A"/>
          </a:solidFill>
          <a:ln w="1905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6"/>
          <p:cNvSpPr/>
          <p:nvPr/>
        </p:nvSpPr>
        <p:spPr>
          <a:xfrm>
            <a:off x="548640" y="36758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LIDACTION VALUES</a:t>
            </a:r>
          </a:p>
        </p:txBody>
      </p:sp>
      <p:sp>
        <p:nvSpPr>
          <p:cNvPr id="17" name="Text 17"/>
          <p:cNvSpPr/>
          <p:nvPr/>
        </p:nvSpPr>
        <p:spPr>
          <a:xfrm>
            <a:off x="548640" y="3913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do nothing  ·  1 sleep  ·  2 hibernate  ·  3 shut down. We want 0 on both AC and DC — and we save whatever was there before.</a:t>
            </a:r>
          </a:p>
        </p:txBody>
      </p:sp>
      <p:sp>
        <p:nvSpPr>
          <p:cNvPr id="18" name="Shape 18"/>
          <p:cNvSpPr/>
          <p:nvPr/>
        </p:nvSpPr>
        <p:spPr>
          <a:xfrm>
            <a:off x="4617720" y="3566160"/>
            <a:ext cx="4160520" cy="1097280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9"/>
          <p:cNvSpPr/>
          <p:nvPr/>
        </p:nvSpPr>
        <p:spPr>
          <a:xfrm>
            <a:off x="4800600" y="36758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CAVEAT</a:t>
            </a:r>
          </a:p>
        </p:txBody>
      </p:sp>
      <p:sp>
        <p:nvSpPr>
          <p:cNvPr id="20" name="Text 20"/>
          <p:cNvSpPr/>
          <p:nvPr/>
        </p:nvSpPr>
        <p:spPr>
          <a:xfrm>
            <a:off x="4800600" y="3913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running with its lid closed obstructs its own cooling. Do not leave a closed, running laptop in a bag or any poorly ventilated space.</a:t>
            </a:r>
          </a:p>
        </p:txBody>
      </p:sp>
      <p:sp>
        <p:nvSpPr>
          <p:cNvPr id="21" name="Shape 2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2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23" name="Text 23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THREAD STATE, AND THE LID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STILL CANNOT GUARANTEE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application-level request keeps a machine awake in every condition. These win anyway.</a:t>
            </a:r>
          </a:p>
        </p:txBody>
      </p:sp>
      <p:sp>
        <p:nvSpPr>
          <p:cNvPr id="5" name="Shape 5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6"/>
          <p:cNvSpPr/>
          <p:nvPr/>
        </p:nvSpPr>
        <p:spPr>
          <a:xfrm>
            <a:off x="365760" y="1024128"/>
            <a:ext cx="118872" cy="502920"/>
          </a:xfrm>
          <a:prstGeom prst="rect">
            <a:avLst/>
          </a:prstGeom>
          <a:solidFill>
            <a:srgbClr val="C8323C"/>
          </a:solidFill>
          <a:ln w="1270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7"/>
          <p:cNvSpPr/>
          <p:nvPr/>
        </p:nvSpPr>
        <p:spPr>
          <a:xfrm>
            <a:off x="621792" y="1078992"/>
            <a:ext cx="868680" cy="182880"/>
          </a:xfrm>
          <a:prstGeom prst="rect">
            <a:avLst/>
          </a:prstGeom>
          <a:solidFill>
            <a:srgbClr val="C8323C"/>
          </a:solidFill>
          <a:ln w="1270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8"/>
          <p:cNvSpPr/>
          <p:nvPr/>
        </p:nvSpPr>
        <p:spPr>
          <a:xfrm>
            <a:off x="621792" y="10789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</a:p>
        </p:txBody>
      </p:sp>
      <p:sp>
        <p:nvSpPr>
          <p:cNvPr id="9" name="Text 9"/>
          <p:cNvSpPr/>
          <p:nvPr/>
        </p:nvSpPr>
        <p:spPr>
          <a:xfrm>
            <a:off x="1627632" y="10607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explicitly selects Sleep</a:t>
            </a:r>
          </a:p>
        </p:txBody>
      </p:sp>
      <p:sp>
        <p:nvSpPr>
          <p:cNvPr id="10" name="Text 10"/>
          <p:cNvSpPr/>
          <p:nvPr/>
        </p:nvSpPr>
        <p:spPr>
          <a:xfrm>
            <a:off x="1627632" y="126187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action always wins. Our request suppresses the idle timer — it does not override the person at the keyboard.</a:t>
            </a:r>
          </a:p>
        </p:txBody>
      </p:sp>
      <p:sp>
        <p:nvSpPr>
          <p:cNvPr id="11" name="Shape 11"/>
          <p:cNvSpPr/>
          <p:nvPr/>
        </p:nvSpPr>
        <p:spPr>
          <a:xfrm>
            <a:off x="365760" y="1613916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2"/>
          <p:cNvSpPr/>
          <p:nvPr/>
        </p:nvSpPr>
        <p:spPr>
          <a:xfrm>
            <a:off x="365760" y="1613916"/>
            <a:ext cx="118872" cy="502920"/>
          </a:xfrm>
          <a:prstGeom prst="rect">
            <a:avLst/>
          </a:prstGeom>
          <a:solidFill>
            <a:srgbClr val="C8323C"/>
          </a:solidFill>
          <a:ln w="1270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3"/>
          <p:cNvSpPr/>
          <p:nvPr/>
        </p:nvSpPr>
        <p:spPr>
          <a:xfrm>
            <a:off x="621792" y="1668780"/>
            <a:ext cx="868680" cy="182880"/>
          </a:xfrm>
          <a:prstGeom prst="rect">
            <a:avLst/>
          </a:prstGeom>
          <a:solidFill>
            <a:srgbClr val="C8323C"/>
          </a:solidFill>
          <a:ln w="12700">
            <a:solidFill>
              <a:srgbClr val="C8323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4"/>
          <p:cNvSpPr/>
          <p:nvPr/>
        </p:nvSpPr>
        <p:spPr>
          <a:xfrm>
            <a:off x="621792" y="16687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</a:p>
        </p:txBody>
      </p:sp>
      <p:sp>
        <p:nvSpPr>
          <p:cNvPr id="15" name="Text 15"/>
          <p:cNvSpPr/>
          <p:nvPr/>
        </p:nvSpPr>
        <p:spPr>
          <a:xfrm>
            <a:off x="1627632" y="16504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battery level</a:t>
            </a:r>
          </a:p>
        </p:txBody>
      </p:sp>
      <p:sp>
        <p:nvSpPr>
          <p:cNvPr id="16" name="Text 16"/>
          <p:cNvSpPr/>
          <p:nvPr/>
        </p:nvSpPr>
        <p:spPr>
          <a:xfrm>
            <a:off x="1627632" y="18516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will suspend or shut down to protect the machine, and whatever has not yet been written to disk.</a:t>
            </a:r>
          </a:p>
        </p:txBody>
      </p:sp>
      <p:sp>
        <p:nvSpPr>
          <p:cNvPr id="17" name="Shape 17"/>
          <p:cNvSpPr/>
          <p:nvPr/>
        </p:nvSpPr>
        <p:spPr>
          <a:xfrm>
            <a:off x="365760" y="2203704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8"/>
          <p:cNvSpPr/>
          <p:nvPr/>
        </p:nvSpPr>
        <p:spPr>
          <a:xfrm>
            <a:off x="365760" y="2203704"/>
            <a:ext cx="118872" cy="50292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9"/>
          <p:cNvSpPr/>
          <p:nvPr/>
        </p:nvSpPr>
        <p:spPr>
          <a:xfrm>
            <a:off x="621792" y="2258568"/>
            <a:ext cx="868680" cy="18288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20"/>
          <p:cNvSpPr/>
          <p:nvPr/>
        </p:nvSpPr>
        <p:spPr>
          <a:xfrm>
            <a:off x="621792" y="22585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</a:p>
        </p:txBody>
      </p:sp>
      <p:sp>
        <p:nvSpPr>
          <p:cNvPr id="21" name="Text 21"/>
          <p:cNvSpPr/>
          <p:nvPr/>
        </p:nvSpPr>
        <p:spPr>
          <a:xfrm>
            <a:off x="1627632" y="22402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Power-button configuration</a:t>
            </a:r>
          </a:p>
        </p:txBody>
      </p:sp>
      <p:sp>
        <p:nvSpPr>
          <p:cNvPr id="22" name="Text 22"/>
          <p:cNvSpPr/>
          <p:nvPr/>
        </p:nvSpPr>
        <p:spPr>
          <a:xfrm>
            <a:off x="1627632" y="244144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power button's action is power-scheme policy, exactly like the lid, and no runtime request changes it.</a:t>
            </a:r>
          </a:p>
        </p:txBody>
      </p:sp>
      <p:sp>
        <p:nvSpPr>
          <p:cNvPr id="23" name="Shape 23"/>
          <p:cNvSpPr/>
          <p:nvPr/>
        </p:nvSpPr>
        <p:spPr>
          <a:xfrm>
            <a:off x="365760" y="2793492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4"/>
          <p:cNvSpPr/>
          <p:nvPr/>
        </p:nvSpPr>
        <p:spPr>
          <a:xfrm>
            <a:off x="365760" y="2793492"/>
            <a:ext cx="118872" cy="50292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5"/>
          <p:cNvSpPr/>
          <p:nvPr/>
        </p:nvSpPr>
        <p:spPr>
          <a:xfrm>
            <a:off x="621792" y="2848356"/>
            <a:ext cx="868680" cy="18288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6"/>
          <p:cNvSpPr/>
          <p:nvPr/>
        </p:nvSpPr>
        <p:spPr>
          <a:xfrm>
            <a:off x="621792" y="28483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</a:p>
        </p:txBody>
      </p:sp>
      <p:sp>
        <p:nvSpPr>
          <p:cNvPr id="27" name="Text 27"/>
          <p:cNvSpPr/>
          <p:nvPr/>
        </p:nvSpPr>
        <p:spPr>
          <a:xfrm>
            <a:off x="1627632" y="28300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protection</a:t>
            </a:r>
          </a:p>
        </p:txBody>
      </p:sp>
      <p:sp>
        <p:nvSpPr>
          <p:cNvPr id="28" name="Text 28"/>
          <p:cNvSpPr/>
          <p:nvPr/>
        </p:nvSpPr>
        <p:spPr>
          <a:xfrm>
            <a:off x="1627632" y="303123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acts to protect the hardware without asking the operating system, let alone our process.</a:t>
            </a:r>
          </a:p>
        </p:txBody>
      </p:sp>
      <p:sp>
        <p:nvSpPr>
          <p:cNvPr id="29" name="Shape 29"/>
          <p:cNvSpPr/>
          <p:nvPr/>
        </p:nvSpPr>
        <p:spPr>
          <a:xfrm>
            <a:off x="365760" y="3383280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30"/>
          <p:cNvSpPr/>
          <p:nvPr/>
        </p:nvSpPr>
        <p:spPr>
          <a:xfrm>
            <a:off x="365760" y="3383280"/>
            <a:ext cx="118872" cy="50292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31"/>
          <p:cNvSpPr/>
          <p:nvPr/>
        </p:nvSpPr>
        <p:spPr>
          <a:xfrm>
            <a:off x="621792" y="3438144"/>
            <a:ext cx="868680" cy="18288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2"/>
          <p:cNvSpPr/>
          <p:nvPr/>
        </p:nvSpPr>
        <p:spPr>
          <a:xfrm>
            <a:off x="621792" y="343814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</a:p>
        </p:txBody>
      </p:sp>
      <p:sp>
        <p:nvSpPr>
          <p:cNvPr id="33" name="Text 33"/>
          <p:cNvSpPr/>
          <p:nvPr/>
        </p:nvSpPr>
        <p:spPr>
          <a:xfrm>
            <a:off x="1627632" y="34198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or organisational policy</a:t>
            </a:r>
          </a:p>
        </p:txBody>
      </p:sp>
      <p:sp>
        <p:nvSpPr>
          <p:cNvPr id="34" name="Text 34"/>
          <p:cNvSpPr/>
          <p:nvPr/>
        </p:nvSpPr>
        <p:spPr>
          <a:xfrm>
            <a:off x="1627632" y="36210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Policy, and hardware or firmware behaviour, both sit above anything the application can ask for.</a:t>
            </a:r>
          </a:p>
        </p:txBody>
      </p:sp>
      <p:sp>
        <p:nvSpPr>
          <p:cNvPr id="35" name="Shape 35"/>
          <p:cNvSpPr/>
          <p:nvPr/>
        </p:nvSpPr>
        <p:spPr>
          <a:xfrm>
            <a:off x="365760" y="3973068"/>
            <a:ext cx="841248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Shape 36"/>
          <p:cNvSpPr/>
          <p:nvPr/>
        </p:nvSpPr>
        <p:spPr>
          <a:xfrm>
            <a:off x="365760" y="3973068"/>
            <a:ext cx="118872" cy="50292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Shape 37"/>
          <p:cNvSpPr/>
          <p:nvPr/>
        </p:nvSpPr>
        <p:spPr>
          <a:xfrm>
            <a:off x="621792" y="4027932"/>
            <a:ext cx="868680" cy="18288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8"/>
          <p:cNvSpPr/>
          <p:nvPr/>
        </p:nvSpPr>
        <p:spPr>
          <a:xfrm>
            <a:off x="621792" y="40279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</a:p>
        </p:txBody>
      </p:sp>
      <p:sp>
        <p:nvSpPr>
          <p:cNvPr id="39" name="Text 39"/>
          <p:cNvSpPr/>
          <p:nvPr/>
        </p:nvSpPr>
        <p:spPr>
          <a:xfrm>
            <a:off x="1627632" y="400964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Standby restrictions</a:t>
            </a:r>
          </a:p>
        </p:txBody>
      </p:sp>
      <p:sp>
        <p:nvSpPr>
          <p:cNvPr id="40" name="Text 40"/>
          <p:cNvSpPr/>
          <p:nvPr/>
        </p:nvSpPr>
        <p:spPr>
          <a:xfrm>
            <a:off x="1627632" y="421081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7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on battery, where the platform's own rules take precedence over a runtime power request.</a:t>
            </a:r>
          </a:p>
        </p:txBody>
      </p:sp>
      <p:sp>
        <p:nvSpPr>
          <p:cNvPr id="41" name="Shape 4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Text 42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43" name="Text 43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WHAT WE CANNOT GUARANTEE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4295E-0059-CBFD-51E7-C99C1CE6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AAED48F-FC42-4363-0E62-6F9FDE9EE069}"/>
              </a:ext>
            </a:extLst>
          </p:cNvPr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F393BF7-75C3-24FE-4584-8817294F8A8F}"/>
              </a:ext>
            </a:extLst>
          </p:cNvPr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KEEP ALIVE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BA18335C-D162-CA8B-574E-BCD40816947B}"/>
              </a:ext>
            </a:extLst>
          </p:cNvPr>
          <p:cNvSpPr/>
          <p:nvPr/>
        </p:nvSpPr>
        <p:spPr>
          <a:xfrm>
            <a:off x="320040" y="935590"/>
            <a:ext cx="8412480" cy="2678048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82FAA581-63E4-71B5-A8AF-78CD2E930969}"/>
              </a:ext>
            </a:extLst>
          </p:cNvPr>
          <p:cNvSpPr/>
          <p:nvPr/>
        </p:nvSpPr>
        <p:spPr>
          <a:xfrm>
            <a:off x="320040" y="949658"/>
            <a:ext cx="73152" cy="32004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B237DDB1-B684-0681-A0AF-EA01AEAFB91F}"/>
              </a:ext>
            </a:extLst>
          </p:cNvPr>
          <p:cNvSpPr/>
          <p:nvPr/>
        </p:nvSpPr>
        <p:spPr>
          <a:xfrm>
            <a:off x="502920" y="1106449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SCOPE</a:t>
            </a: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F7E8A6BA-9302-FA53-0B76-A004E06050AC}"/>
              </a:ext>
            </a:extLst>
          </p:cNvPr>
          <p:cNvSpPr/>
          <p:nvPr/>
        </p:nvSpPr>
        <p:spPr>
          <a:xfrm>
            <a:off x="502920" y="1380769"/>
            <a:ext cx="8046720" cy="2153739"/>
          </a:xfrm>
          <a:prstGeom prst="rect">
            <a:avLst/>
          </a:prstGeom>
          <a:noFill/>
          <a:ln/>
        </p:spPr>
        <p:txBody>
          <a:bodyPr wrap="square" lIns="0" tIns="0" rIns="0" bIns="0" numCol="2" spcCol="360000" rtlCol="0" anchor="t"/>
          <a:lstStyle/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 Close action change – need to investigate whether most home users will need elevation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 self-update – need to discuss with Platform team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maintenance and indexing services (e.g., Windows Search indexer, Defrag) – need to investigate feasibility and impact on affecting Windows services. May cause more problems if user also uses the PC for other tasks. [TBD]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group policy and warn users?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endParaRPr lang="en-US" sz="920" dirty="0">
              <a:solidFill>
                <a:srgbClr val="CFCF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32A6959D-C920-7E23-6DB4-9FA67FBCF2A7}"/>
              </a:ext>
            </a:extLst>
          </p:cNvPr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8FD7FB0D-85F3-4BB1-40BD-35B7F314CAFD}"/>
              </a:ext>
            </a:extLst>
          </p:cNvPr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DA600E50-24FC-073C-6AF2-8E3E5BEA9EB5}"/>
              </a:ext>
            </a:extLst>
          </p:cNvPr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OPEN QUESTIONS</a:t>
            </a:r>
          </a:p>
        </p:txBody>
      </p:sp>
    </p:spTree>
    <p:extLst>
      <p:ext uri="{BB962C8B-B14F-4D97-AF65-F5344CB8AC3E}">
        <p14:creationId xmlns:p14="http://schemas.microsoft.com/office/powerpoint/2010/main" val="1718310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457200" y="2029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OFFLOAD</a:t>
            </a:r>
          </a:p>
        </p:txBody>
      </p:sp>
      <p:sp>
        <p:nvSpPr>
          <p:cNvPr id="4" name="Text 4"/>
          <p:cNvSpPr/>
          <p:nvPr/>
        </p:nvSpPr>
        <p:spPr>
          <a:xfrm>
            <a:off x="457200" y="2505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</a:t>
            </a:r>
          </a:p>
        </p:txBody>
      </p:sp>
      <p:sp>
        <p:nvSpPr>
          <p:cNvPr id="5" name="Text 5"/>
          <p:cNvSpPr/>
          <p:nvPr/>
        </p:nvSpPr>
        <p:spPr>
          <a:xfrm>
            <a:off x="45720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Reserved. Nothing has been researched or written for this section yet.</a:t>
            </a:r>
          </a:p>
        </p:txBody>
      </p:sp>
      <p:sp>
        <p:nvSpPr>
          <p:cNvPr id="6" name="Shape 6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7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ONLY</a:t>
            </a:r>
          </a:p>
        </p:txBody>
      </p:sp>
      <p:sp>
        <p:nvSpPr>
          <p:cNvPr id="8" name="Text 8"/>
          <p:cNvSpPr/>
          <p:nvPr/>
        </p:nvSpPr>
        <p:spPr>
          <a:xfrm>
            <a:off x="457200" y="4041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are listed overleaf  ·  Answers come in the next revision</a:t>
            </a:r>
          </a:p>
        </p:txBody>
      </p:sp>
      <p:sp>
        <p:nvSpPr>
          <p:cNvPr id="9" name="Text 9"/>
          <p:cNvSpPr/>
          <p:nvPr/>
        </p:nvSpPr>
        <p:spPr>
          <a:xfrm>
            <a:off x="457200" y="4370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OF III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11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/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— GPU OFFLOAD</a:t>
            </a:r>
          </a:p>
        </p:txBody>
      </p:sp>
      <p:sp>
        <p:nvSpPr>
          <p:cNvPr id="5" name="Shape 5"/>
          <p:cNvSpPr/>
          <p:nvPr/>
        </p:nvSpPr>
        <p:spPr>
          <a:xfrm>
            <a:off x="365760" y="1051560"/>
            <a:ext cx="2651760" cy="1051560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6"/>
          <p:cNvSpPr/>
          <p:nvPr/>
        </p:nvSpPr>
        <p:spPr>
          <a:xfrm>
            <a:off x="365760" y="1051560"/>
            <a:ext cx="2651760" cy="36576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7"/>
          <p:cNvSpPr/>
          <p:nvPr/>
        </p:nvSpPr>
        <p:spPr>
          <a:xfrm>
            <a:off x="548640" y="1207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</a:p>
        </p:txBody>
      </p:sp>
      <p:sp>
        <p:nvSpPr>
          <p:cNvPr id="8" name="Text 8"/>
          <p:cNvSpPr/>
          <p:nvPr/>
        </p:nvSpPr>
        <p:spPr>
          <a:xfrm>
            <a:off x="548640" y="15361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99"/>
              </a:lnSpc>
              <a:buNone/>
            </a:pPr>
            <a:r>
              <a:rPr lang="en-US" sz="9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mean by offload — a layer split, paging, or both at once?</a:t>
            </a:r>
          </a:p>
        </p:txBody>
      </p:sp>
      <p:sp>
        <p:nvSpPr>
          <p:cNvPr id="9" name="Shape 9"/>
          <p:cNvSpPr/>
          <p:nvPr/>
        </p:nvSpPr>
        <p:spPr>
          <a:xfrm>
            <a:off x="3246120" y="1051560"/>
            <a:ext cx="2651760" cy="1051560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10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11"/>
          <p:cNvSpPr/>
          <p:nvPr/>
        </p:nvSpPr>
        <p:spPr>
          <a:xfrm>
            <a:off x="3429000" y="1207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CONTROL</a:t>
            </a:r>
          </a:p>
        </p:txBody>
      </p:sp>
      <p:sp>
        <p:nvSpPr>
          <p:cNvPr id="12" name="Text 12"/>
          <p:cNvSpPr/>
          <p:nvPr/>
        </p:nvSpPr>
        <p:spPr>
          <a:xfrm>
            <a:off x="3429000" y="15361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99"/>
              </a:lnSpc>
              <a:buNone/>
            </a:pPr>
            <a:r>
              <a:rPr lang="en-US" sz="9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knobs does each runtime actually expose to us at load time?</a:t>
            </a:r>
          </a:p>
        </p:txBody>
      </p:sp>
      <p:sp>
        <p:nvSpPr>
          <p:cNvPr id="13" name="Shape 13"/>
          <p:cNvSpPr/>
          <p:nvPr/>
        </p:nvSpPr>
        <p:spPr>
          <a:xfrm>
            <a:off x="6126480" y="1051560"/>
            <a:ext cx="2651760" cy="1051560"/>
          </a:xfrm>
          <a:prstGeom prst="rect">
            <a:avLst/>
          </a:prstGeom>
          <a:solidFill>
            <a:srgbClr val="0A0A0A"/>
          </a:solidFill>
          <a:ln w="1905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Shape 14"/>
          <p:cNvSpPr/>
          <p:nvPr/>
        </p:nvSpPr>
        <p:spPr>
          <a:xfrm>
            <a:off x="6126480" y="1051560"/>
            <a:ext cx="2651760" cy="36576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5"/>
          <p:cNvSpPr/>
          <p:nvPr/>
        </p:nvSpPr>
        <p:spPr>
          <a:xfrm>
            <a:off x="6309360" y="1207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E5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DECIDE</a:t>
            </a:r>
          </a:p>
        </p:txBody>
      </p:sp>
      <p:sp>
        <p:nvSpPr>
          <p:cNvPr id="16" name="Text 16"/>
          <p:cNvSpPr/>
          <p:nvPr/>
        </p:nvSpPr>
        <p:spPr>
          <a:xfrm>
            <a:off x="6309360" y="15361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99"/>
              </a:lnSpc>
              <a:buNone/>
            </a:pPr>
            <a:r>
              <a:rPr lang="en-US" sz="95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chooses the split — the runtime, the user, or our own policy?</a:t>
            </a:r>
          </a:p>
        </p:txBody>
      </p:sp>
      <p:sp>
        <p:nvSpPr>
          <p:cNvPr id="22" name="Shape 22"/>
          <p:cNvSpPr/>
          <p:nvPr/>
        </p:nvSpPr>
        <p:spPr>
          <a:xfrm>
            <a:off x="365760" y="2331720"/>
            <a:ext cx="8412480" cy="1645920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3"/>
          <p:cNvSpPr/>
          <p:nvPr/>
        </p:nvSpPr>
        <p:spPr>
          <a:xfrm>
            <a:off x="365760" y="2327852"/>
            <a:ext cx="320040" cy="73152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4"/>
          <p:cNvSpPr/>
          <p:nvPr/>
        </p:nvSpPr>
        <p:spPr>
          <a:xfrm>
            <a:off x="365760" y="2345788"/>
            <a:ext cx="73152" cy="32004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5"/>
          <p:cNvSpPr/>
          <p:nvPr/>
        </p:nvSpPr>
        <p:spPr>
          <a:xfrm>
            <a:off x="548640" y="2463015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SCOPE</a:t>
            </a:r>
          </a:p>
        </p:txBody>
      </p:sp>
      <p:sp>
        <p:nvSpPr>
          <p:cNvPr id="26" name="Text 26"/>
          <p:cNvSpPr/>
          <p:nvPr/>
        </p:nvSpPr>
        <p:spPr>
          <a:xfrm>
            <a:off x="548640" y="2732939"/>
            <a:ext cx="8046720" cy="1237317"/>
          </a:xfrm>
          <a:prstGeom prst="rect">
            <a:avLst/>
          </a:prstGeom>
          <a:noFill/>
          <a:ln/>
        </p:spPr>
        <p:txBody>
          <a:bodyPr wrap="square" lIns="0" tIns="0" rIns="0" bIns="0" numCol="2" spcCol="360000" rtlCol="0" anchor="t"/>
          <a:lstStyle/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see us positioned – as a monitor or a global arbitrator of system resources? 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allowed to “reserve” </a:t>
            </a:r>
            <a:r>
              <a:rPr lang="en-US" sz="920" dirty="0" err="1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dGPU</a:t>
            </a: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resources and then transfer ownership to other applications/runtimes?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changing GPU modes – Dynamic Switching / Dedicated GPU requires a change in BIOS modes pending restart. Is this expectation acceptable for this feature?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endParaRPr lang="en-US" sz="920" dirty="0">
              <a:solidFill>
                <a:srgbClr val="CFCF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control other runtimes? Which runtimes let us change the layer count without a restart?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find this info, is suggesting user a better config/quantization better than trying to control system resources?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Font typeface="+mj-lt"/>
              <a:buAutoNum type="arabicPeriod"/>
            </a:pPr>
            <a:endParaRPr lang="en-US" sz="920" dirty="0">
              <a:solidFill>
                <a:srgbClr val="CFCF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endParaRPr lang="en-US" sz="920" dirty="0">
              <a:solidFill>
                <a:srgbClr val="CFCFC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30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31" name="Text 31"/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OPEN QUESTIONS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645D0-7B82-6AAD-B18D-EAF89B31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68572549-A804-C949-0892-A68D94EE9A6A}"/>
              </a:ext>
            </a:extLst>
          </p:cNvPr>
          <p:cNvSpPr/>
          <p:nvPr/>
        </p:nvSpPr>
        <p:spPr>
          <a:xfrm>
            <a:off x="320040" y="320040"/>
            <a:ext cx="118872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0B342BF-B445-A4CB-C618-8C7F805D6A6E}"/>
              </a:ext>
            </a:extLst>
          </p:cNvPr>
          <p:cNvSpPr/>
          <p:nvPr/>
        </p:nvSpPr>
        <p:spPr>
          <a:xfrm>
            <a:off x="54864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 – 2026.08.12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02E05951-1E61-22FD-6C15-7993C9219FAA}"/>
              </a:ext>
            </a:extLst>
          </p:cNvPr>
          <p:cNvSpPr/>
          <p:nvPr/>
        </p:nvSpPr>
        <p:spPr>
          <a:xfrm>
            <a:off x="320040" y="935590"/>
            <a:ext cx="8412480" cy="3786664"/>
          </a:xfrm>
          <a:prstGeom prst="rect">
            <a:avLst/>
          </a:prstGeom>
          <a:solidFill>
            <a:srgbClr val="0A0A0A"/>
          </a:solidFill>
          <a:ln w="1905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86397955-D8EF-B286-BAD3-4491B51E4663}"/>
              </a:ext>
            </a:extLst>
          </p:cNvPr>
          <p:cNvSpPr/>
          <p:nvPr/>
        </p:nvSpPr>
        <p:spPr>
          <a:xfrm>
            <a:off x="320040" y="949658"/>
            <a:ext cx="73152" cy="320040"/>
          </a:xfrm>
          <a:prstGeom prst="rect">
            <a:avLst/>
          </a:prstGeom>
          <a:solidFill>
            <a:srgbClr val="28AADC"/>
          </a:solidFill>
          <a:ln w="12700">
            <a:solidFill>
              <a:srgbClr val="28AAD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C3C0E495-534E-21DA-5FD1-78D534AD04C0}"/>
              </a:ext>
            </a:extLst>
          </p:cNvPr>
          <p:cNvSpPr/>
          <p:nvPr/>
        </p:nvSpPr>
        <p:spPr>
          <a:xfrm>
            <a:off x="502920" y="1106449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28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A5E6B060-9299-9572-0752-6C16596643BE}"/>
              </a:ext>
            </a:extLst>
          </p:cNvPr>
          <p:cNvSpPr/>
          <p:nvPr/>
        </p:nvSpPr>
        <p:spPr>
          <a:xfrm>
            <a:off x="502920" y="1380769"/>
            <a:ext cx="8046720" cy="3234161"/>
          </a:xfrm>
          <a:prstGeom prst="rect">
            <a:avLst/>
          </a:prstGeom>
          <a:noFill/>
          <a:ln/>
        </p:spPr>
        <p:txBody>
          <a:bodyPr wrap="square" lIns="0" tIns="0" rIns="0" bIns="0" numCol="1" spcCol="0" rtlCol="0" anchor="t"/>
          <a:lstStyle/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</a:p>
          <a:p>
            <a:pPr marL="713232" lvl="1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into llama.cpp – do runtimes based on this follow the same method for metric monitoring</a:t>
            </a:r>
          </a:p>
          <a:p>
            <a:pPr marL="713232" lvl="1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model training?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Alive</a:t>
            </a:r>
          </a:p>
          <a:p>
            <a:pPr marL="713232" lvl="1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idle sleep</a:t>
            </a:r>
          </a:p>
          <a:p>
            <a:pPr marL="713232" lvl="1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to update user settings – inform user</a:t>
            </a:r>
          </a:p>
          <a:p>
            <a:pPr marL="713232" lvl="1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group policy and inform user that suppression of lid close action may not take effect</a:t>
            </a:r>
          </a:p>
          <a:p>
            <a:pPr marL="25603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Offload</a:t>
            </a:r>
          </a:p>
          <a:p>
            <a:pPr marL="713232" lvl="1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investigate on the following:</a:t>
            </a:r>
          </a:p>
          <a:p>
            <a:pPr marL="1170432" lvl="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make only </a:t>
            </a:r>
            <a:r>
              <a:rPr lang="en-US" sz="920" dirty="0" err="1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iGPU</a:t>
            </a: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available for Windows scheduling</a:t>
            </a:r>
          </a:p>
          <a:p>
            <a:pPr marL="1170432" lvl="2" indent="-256032">
              <a:lnSpc>
                <a:spcPct val="112000"/>
              </a:lnSpc>
              <a:spcAft>
                <a:spcPts val="380"/>
              </a:spcAft>
              <a:buSzPct val="100000"/>
              <a:buChar char="■"/>
            </a:pP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need </a:t>
            </a:r>
            <a:r>
              <a:rPr lang="en-US" sz="920" dirty="0" err="1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dGPU</a:t>
            </a: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do a targeted reservation of </a:t>
            </a:r>
            <a:r>
              <a:rPr lang="en-US" sz="920" dirty="0" err="1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dGPU</a:t>
            </a:r>
            <a:r>
              <a:rPr lang="en-US" sz="92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VRAM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FDF53C34-FE0C-EB70-61CB-35FAE15B372E}"/>
              </a:ext>
            </a:extLst>
          </p:cNvPr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6FC0A2EB-4155-A637-6000-49589BFF2521}"/>
              </a:ext>
            </a:extLst>
          </p:cNvPr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10787295-624A-3857-8BC3-73BDA212B97D}"/>
              </a:ext>
            </a:extLst>
          </p:cNvPr>
          <p:cNvSpPr/>
          <p:nvPr/>
        </p:nvSpPr>
        <p:spPr>
          <a:xfrm>
            <a:off x="13716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MINUTES OF THE MEETING</a:t>
            </a:r>
          </a:p>
        </p:txBody>
      </p:sp>
    </p:spTree>
    <p:extLst>
      <p:ext uri="{BB962C8B-B14F-4D97-AF65-F5344CB8AC3E}">
        <p14:creationId xmlns:p14="http://schemas.microsoft.com/office/powerpoint/2010/main" val="2178146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457200" y="2029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6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</a:t>
            </a:r>
          </a:p>
        </p:txBody>
      </p:sp>
      <p:sp>
        <p:nvSpPr>
          <p:cNvPr id="4" name="Text 4"/>
          <p:cNvSpPr/>
          <p:nvPr/>
        </p:nvSpPr>
        <p:spPr>
          <a:xfrm>
            <a:off x="457200" y="2505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</a:t>
            </a:r>
          </a:p>
        </p:txBody>
      </p:sp>
      <p:sp>
        <p:nvSpPr>
          <p:cNvPr id="5" name="Text 5"/>
          <p:cNvSpPr/>
          <p:nvPr/>
        </p:nvSpPr>
        <p:spPr>
          <a:xfrm>
            <a:off x="45720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review on 12 August agreed, and what each section has to go and find out.</a:t>
            </a:r>
          </a:p>
        </p:txBody>
      </p:sp>
      <p:sp>
        <p:nvSpPr>
          <p:cNvPr id="6" name="Shape 6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solidFill>
            <a:srgbClr val="E5A100"/>
          </a:solidFill>
          <a:ln w="12700">
            <a:solidFill>
              <a:srgbClr val="E5A10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7"/>
          <p:cNvSpPr/>
          <p:nvPr/>
        </p:nvSpPr>
        <p:spPr>
          <a:xfrm>
            <a:off x="3246120" y="3493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2026.08.12</a:t>
            </a:r>
          </a:p>
        </p:txBody>
      </p:sp>
      <p:sp>
        <p:nvSpPr>
          <p:cNvPr id="8" name="Text 8"/>
          <p:cNvSpPr/>
          <p:nvPr/>
        </p:nvSpPr>
        <p:spPr>
          <a:xfrm>
            <a:off x="457200" y="4041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topics  ·  Actions carried back into sections I, II and III</a:t>
            </a:r>
          </a:p>
        </p:txBody>
      </p:sp>
      <p:sp>
        <p:nvSpPr>
          <p:cNvPr id="9" name="Text 9"/>
          <p:cNvSpPr/>
          <p:nvPr/>
        </p:nvSpPr>
        <p:spPr>
          <a:xfrm>
            <a:off x="457200" y="4370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MINUTES</a:t>
            </a:r>
          </a:p>
        </p:txBody>
      </p:sp>
      <p:sp>
        <p:nvSpPr>
          <p:cNvPr id="10" name="Shape 10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44D62C"/>
          </a:solidFill>
          <a:ln w="12700">
            <a:solidFill>
              <a:srgbClr val="44D62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11"/>
          <p:cNvSpPr/>
          <p:nvPr/>
        </p:nvSpPr>
        <p:spPr>
          <a:xfrm>
            <a:off x="813816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44D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2174</Words>
  <Application>Microsoft Office PowerPoint</Application>
  <PresentationFormat>On-screen Show (16:9)</PresentationFormat>
  <Paragraphs>268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Mode v1 - Metric Retrieval, Keep-Alive, GPU Offload</dc:title>
  <dc:subject>Local LLM monitoring and runtime control</dc:subject>
  <dc:creator>PptxGenJS</dc:creator>
  <cp:lastModifiedBy>Vedraj Baruah</cp:lastModifiedBy>
  <cp:revision>9</cp:revision>
  <dcterms:created xsi:type="dcterms:W3CDTF">2026-07-28T06:59:12Z</dcterms:created>
  <dcterms:modified xsi:type="dcterms:W3CDTF">2026-08-12T05:29:37Z</dcterms:modified>
</cp:coreProperties>
</file>